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x="9880600" cy="6858000"/>
  <p:notesSz cx="6858000" cy="9144000"/>
  <p:embeddedFontLst>
    <p:embeddedFont>
      <p:font typeface="Arimo" charset="1" panose="020B0604020202020204"/>
      <p:regular r:id="rId52"/>
    </p:embeddedFont>
    <p:embeddedFont>
      <p:font typeface="Inter" charset="1" panose="02000503000000020004"/>
      <p:regular r:id="rId53"/>
    </p:embeddedFont>
    <p:embeddedFont>
      <p:font typeface="Arial MT Pro" charset="1" panose="020B0502020202020204"/>
      <p:regular r:id="rId54"/>
    </p:embeddedFont>
    <p:embeddedFont>
      <p:font typeface="Inter Bold" charset="1" panose="02000503000000020004"/>
      <p:regular r:id="rId55"/>
    </p:embeddedFont>
    <p:embeddedFont>
      <p:font typeface="Arimo Bold" charset="1" panose="020B0704020202020204"/>
      <p:regular r:id="rId56"/>
    </p:embeddedFont>
    <p:embeddedFont>
      <p:font typeface="Arial MT Pro Bold" charset="1" panose="020B0802020202020204"/>
      <p:regular r:id="rId57"/>
    </p:embeddedFont>
    <p:embeddedFont>
      <p:font typeface="Inter Italics" charset="1" panose="02000503000000020004"/>
      <p:regular r:id="rId58"/>
    </p:embeddedFont>
    <p:embeddedFont>
      <p:font typeface="Inter Medium" charset="1" panose="02000503000000020004"/>
      <p:regular r:id="rId59"/>
    </p:embeddedFont>
    <p:embeddedFont>
      <p:font typeface="XM Vahid" charset="1" panose="02000503090000020004"/>
      <p:regular r:id="rId60"/>
    </p:embeddedFont>
    <p:embeddedFont>
      <p:font typeface="Droid Arabic Kufi" charset="1" panose="020B0606030804020204"/>
      <p:regular r:id="rId6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fonts/font52.fntdata" Type="http://schemas.openxmlformats.org/officeDocument/2006/relationships/font"/><Relationship Id="rId53" Target="fonts/font53.fntdata" Type="http://schemas.openxmlformats.org/officeDocument/2006/relationships/font"/><Relationship Id="rId54" Target="fonts/font54.fntdata" Type="http://schemas.openxmlformats.org/officeDocument/2006/relationships/font"/><Relationship Id="rId55" Target="fonts/font55.fntdata" Type="http://schemas.openxmlformats.org/officeDocument/2006/relationships/font"/><Relationship Id="rId56" Target="fonts/font56.fntdata" Type="http://schemas.openxmlformats.org/officeDocument/2006/relationships/font"/><Relationship Id="rId57" Target="fonts/font57.fntdata" Type="http://schemas.openxmlformats.org/officeDocument/2006/relationships/font"/><Relationship Id="rId58" Target="fonts/font58.fntdata" Type="http://schemas.openxmlformats.org/officeDocument/2006/relationships/font"/><Relationship Id="rId59" Target="fonts/font59.fntdata" Type="http://schemas.openxmlformats.org/officeDocument/2006/relationships/font"/><Relationship Id="rId6" Target="slides/slide1.xml" Type="http://schemas.openxmlformats.org/officeDocument/2006/relationships/slide"/><Relationship Id="rId60" Target="fonts/font60.fntdata" Type="http://schemas.openxmlformats.org/officeDocument/2006/relationships/font"/><Relationship Id="rId61" Target="fonts/font61.fntdata" Type="http://schemas.openxmlformats.org/officeDocument/2006/relationships/font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png" Type="http://schemas.openxmlformats.org/officeDocument/2006/relationships/image"/><Relationship Id="rId12" Target="../media/image15.png" Type="http://schemas.openxmlformats.org/officeDocument/2006/relationships/image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7.png" Type="http://schemas.openxmlformats.org/officeDocument/2006/relationships/image"/><Relationship Id="rId4" Target="../media/image18.jpeg" Type="http://schemas.openxmlformats.org/officeDocument/2006/relationships/image"/><Relationship Id="rId5" Target="../media/image19.jpeg" Type="http://schemas.openxmlformats.org/officeDocument/2006/relationships/image"/><Relationship Id="rId6" Target="https://www.linkedin.com/in/mohamedkaasab/" TargetMode="External" Type="http://schemas.openxmlformats.org/officeDocument/2006/relationships/hyperlink"/><Relationship Id="rId7" Target="https://www.linkedin.com/in/hamdy-osama/" TargetMode="External" Type="http://schemas.openxmlformats.org/officeDocument/2006/relationships/hyperlink"/><Relationship Id="rId8" Target="https://www.linkedin.com/in/yousef-bahgt/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29153" y="247012"/>
            <a:ext cx="1599009" cy="524094"/>
            <a:chOff x="0" y="0"/>
            <a:chExt cx="2132012" cy="6987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2076" cy="698754"/>
            </a:xfrm>
            <a:custGeom>
              <a:avLst/>
              <a:gdLst/>
              <a:ahLst/>
              <a:cxnLst/>
              <a:rect r="r" b="b" t="t" l="l"/>
              <a:pathLst>
                <a:path h="698754" w="2132076">
                  <a:moveTo>
                    <a:pt x="0" y="0"/>
                  </a:moveTo>
                  <a:lnTo>
                    <a:pt x="2132076" y="0"/>
                  </a:lnTo>
                  <a:lnTo>
                    <a:pt x="2132076" y="698754"/>
                  </a:lnTo>
                  <a:lnTo>
                    <a:pt x="0" y="698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23" r="2" b="-129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95900" y="403955"/>
            <a:ext cx="1360961" cy="210188"/>
          </a:xfrm>
          <a:custGeom>
            <a:avLst/>
            <a:gdLst/>
            <a:ahLst/>
            <a:cxnLst/>
            <a:rect r="r" b="b" t="t" l="l"/>
            <a:pathLst>
              <a:path h="210188" w="1360961">
                <a:moveTo>
                  <a:pt x="0" y="0"/>
                </a:moveTo>
                <a:lnTo>
                  <a:pt x="1360961" y="0"/>
                </a:lnTo>
                <a:lnTo>
                  <a:pt x="1360961" y="210188"/>
                </a:lnTo>
                <a:lnTo>
                  <a:pt x="0" y="2101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070" r="0" b="-207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95900" y="2570724"/>
            <a:ext cx="9886950" cy="1411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4"/>
              </a:lnSpc>
            </a:pPr>
            <a:r>
              <a:rPr lang="en-US" sz="477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Fake Job Postings</a:t>
            </a:r>
          </a:p>
          <a:p>
            <a:pPr algn="l">
              <a:lnSpc>
                <a:spcPts val="5494"/>
              </a:lnSpc>
            </a:pPr>
            <a:r>
              <a:rPr lang="en-US" sz="477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Detection System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422870" y="2441040"/>
            <a:ext cx="2401558" cy="1545551"/>
            <a:chOff x="0" y="0"/>
            <a:chExt cx="2075619" cy="13357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5619" cy="1335789"/>
            </a:xfrm>
            <a:custGeom>
              <a:avLst/>
              <a:gdLst/>
              <a:ahLst/>
              <a:cxnLst/>
              <a:rect r="r" b="b" t="t" l="l"/>
              <a:pathLst>
                <a:path h="1335789" w="2075619">
                  <a:moveTo>
                    <a:pt x="25790" y="0"/>
                  </a:moveTo>
                  <a:lnTo>
                    <a:pt x="2049829" y="0"/>
                  </a:lnTo>
                  <a:cubicBezTo>
                    <a:pt x="2064073" y="0"/>
                    <a:pt x="2075619" y="11546"/>
                    <a:pt x="2075619" y="25790"/>
                  </a:cubicBezTo>
                  <a:lnTo>
                    <a:pt x="2075619" y="1310000"/>
                  </a:lnTo>
                  <a:cubicBezTo>
                    <a:pt x="2075619" y="1324243"/>
                    <a:pt x="2064073" y="1335789"/>
                    <a:pt x="2049829" y="1335789"/>
                  </a:cubicBezTo>
                  <a:lnTo>
                    <a:pt x="25790" y="1335789"/>
                  </a:lnTo>
                  <a:cubicBezTo>
                    <a:pt x="11546" y="1335789"/>
                    <a:pt x="0" y="1324243"/>
                    <a:pt x="0" y="1310000"/>
                  </a:cubicBezTo>
                  <a:lnTo>
                    <a:pt x="0" y="25790"/>
                  </a:lnTo>
                  <a:cubicBezTo>
                    <a:pt x="0" y="11546"/>
                    <a:pt x="11546" y="0"/>
                    <a:pt x="25790" y="0"/>
                  </a:cubicBezTo>
                  <a:close/>
                </a:path>
              </a:pathLst>
            </a:custGeom>
            <a:blipFill>
              <a:blip r:embed="rId5"/>
              <a:stretch>
                <a:fillRect l="-1484" t="0" r="-1484" b="0"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495900" y="4089663"/>
            <a:ext cx="9416143" cy="662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6"/>
              </a:lnSpc>
            </a:pPr>
            <a:r>
              <a:rPr lang="en-US" sz="164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Detecting Fraudulent Job Listings with Machine Learning </a:t>
            </a:r>
          </a:p>
          <a:p>
            <a:pPr algn="l">
              <a:lnSpc>
                <a:spcPts val="2636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0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9104" y="184328"/>
            <a:ext cx="4414314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Agenda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0206" y="1700746"/>
            <a:ext cx="8803148" cy="514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1396" indent="-243799" lvl="2">
              <a:lnSpc>
                <a:spcPts val="3838"/>
              </a:lnSpc>
              <a:buFont typeface="Arial"/>
              <a:buChar char="⚬"/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0" y="1658997"/>
            <a:ext cx="4884824" cy="536241"/>
            <a:chOff x="0" y="0"/>
            <a:chExt cx="11106150" cy="12192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11061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106150">
                  <a:moveTo>
                    <a:pt x="0" y="0"/>
                  </a:moveTo>
                  <a:lnTo>
                    <a:pt x="11106150" y="0"/>
                  </a:lnTo>
                  <a:lnTo>
                    <a:pt x="1110615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002126" y="1658997"/>
            <a:ext cx="4884824" cy="536241"/>
            <a:chOff x="0" y="0"/>
            <a:chExt cx="11106150" cy="12192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11061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106150">
                  <a:moveTo>
                    <a:pt x="0" y="0"/>
                  </a:moveTo>
                  <a:lnTo>
                    <a:pt x="11106150" y="0"/>
                  </a:lnTo>
                  <a:lnTo>
                    <a:pt x="1110615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2312541"/>
            <a:ext cx="4884824" cy="536241"/>
            <a:chOff x="0" y="0"/>
            <a:chExt cx="11106150" cy="12192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111061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106150">
                  <a:moveTo>
                    <a:pt x="0" y="0"/>
                  </a:moveTo>
                  <a:lnTo>
                    <a:pt x="11106150" y="0"/>
                  </a:lnTo>
                  <a:lnTo>
                    <a:pt x="1110615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002126" y="2312541"/>
            <a:ext cx="4884824" cy="536241"/>
            <a:chOff x="0" y="0"/>
            <a:chExt cx="11106150" cy="12192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111061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106150">
                  <a:moveTo>
                    <a:pt x="0" y="0"/>
                  </a:moveTo>
                  <a:lnTo>
                    <a:pt x="11106150" y="0"/>
                  </a:lnTo>
                  <a:lnTo>
                    <a:pt x="1110615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0" y="2966085"/>
            <a:ext cx="4884824" cy="536241"/>
            <a:chOff x="0" y="0"/>
            <a:chExt cx="11106150" cy="12192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111061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106150">
                  <a:moveTo>
                    <a:pt x="0" y="0"/>
                  </a:moveTo>
                  <a:lnTo>
                    <a:pt x="11106150" y="0"/>
                  </a:lnTo>
                  <a:lnTo>
                    <a:pt x="1110615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002126" y="2966085"/>
            <a:ext cx="4884824" cy="536241"/>
            <a:chOff x="0" y="0"/>
            <a:chExt cx="11106150" cy="12192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1110615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106150">
                  <a:moveTo>
                    <a:pt x="0" y="0"/>
                  </a:moveTo>
                  <a:lnTo>
                    <a:pt x="11106150" y="0"/>
                  </a:lnTo>
                  <a:lnTo>
                    <a:pt x="1110615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58651" y="3616626"/>
            <a:ext cx="9886950" cy="536241"/>
            <a:chOff x="0" y="0"/>
            <a:chExt cx="22479000" cy="12192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22479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479000">
                  <a:moveTo>
                    <a:pt x="0" y="0"/>
                  </a:moveTo>
                  <a:lnTo>
                    <a:pt x="22479000" y="0"/>
                  </a:lnTo>
                  <a:lnTo>
                    <a:pt x="224790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59197" y="1784678"/>
            <a:ext cx="284878" cy="284878"/>
            <a:chOff x="0" y="0"/>
            <a:chExt cx="647700" cy="6477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161323" y="1784678"/>
            <a:ext cx="284878" cy="284878"/>
            <a:chOff x="0" y="0"/>
            <a:chExt cx="647700" cy="6477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59197" y="2438222"/>
            <a:ext cx="284878" cy="284878"/>
            <a:chOff x="0" y="0"/>
            <a:chExt cx="647700" cy="6477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161323" y="2438222"/>
            <a:ext cx="284878" cy="284878"/>
            <a:chOff x="0" y="0"/>
            <a:chExt cx="647700" cy="647700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59197" y="3091767"/>
            <a:ext cx="284878" cy="284878"/>
            <a:chOff x="0" y="0"/>
            <a:chExt cx="647700" cy="647700"/>
          </a:xfrm>
        </p:grpSpPr>
        <p:sp>
          <p:nvSpPr>
            <p:cNvPr name="Freeform 31" id="31" descr="image.png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161323" y="3091767"/>
            <a:ext cx="284878" cy="284878"/>
            <a:chOff x="0" y="0"/>
            <a:chExt cx="647700" cy="647700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59197" y="3721401"/>
            <a:ext cx="284878" cy="284878"/>
            <a:chOff x="0" y="0"/>
            <a:chExt cx="647700" cy="647700"/>
          </a:xfrm>
        </p:grpSpPr>
        <p:sp>
          <p:nvSpPr>
            <p:cNvPr name="Freeform 35" id="35" descr="image.png"/>
            <p:cNvSpPr/>
            <p:nvPr/>
          </p:nvSpPr>
          <p:spPr>
            <a:xfrm flipH="false" flipV="false" rot="0">
              <a:off x="0" y="0"/>
              <a:ext cx="647700" cy="647700"/>
            </a:xfrm>
            <a:custGeom>
              <a:avLst/>
              <a:gdLst/>
              <a:ahLst/>
              <a:cxnLst/>
              <a:rect r="r" b="b" t="t" l="l"/>
              <a:pathLst>
                <a:path h="647700" w="647700">
                  <a:moveTo>
                    <a:pt x="0" y="0"/>
                  </a:moveTo>
                  <a:lnTo>
                    <a:pt x="647700" y="0"/>
                  </a:lnTo>
                  <a:lnTo>
                    <a:pt x="6477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561378" y="1837994"/>
            <a:ext cx="1197769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7"/>
              </a:lnSpc>
            </a:pPr>
            <a:r>
              <a:rPr lang="en-US" sz="1589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Introduction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563504" y="1837994"/>
            <a:ext cx="297561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7"/>
              </a:lnSpc>
            </a:pPr>
            <a:r>
              <a:rPr lang="en-US" sz="1589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Impact &amp; Problem Significance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61378" y="2491538"/>
            <a:ext cx="1927503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7"/>
              </a:lnSpc>
            </a:pPr>
            <a:r>
              <a:rPr lang="en-US" sz="1589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Dataset Description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563504" y="2491538"/>
            <a:ext cx="3010376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7"/>
              </a:lnSpc>
            </a:pPr>
            <a:r>
              <a:rPr lang="en-US" sz="1589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Data Cleaning &amp; Preprocessing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61378" y="3145082"/>
            <a:ext cx="3126819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7"/>
              </a:lnSpc>
            </a:pPr>
            <a:r>
              <a:rPr lang="en-US" sz="1589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Exploratory Data Analysis (EDA)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563504" y="3145082"/>
            <a:ext cx="3650059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7"/>
              </a:lnSpc>
            </a:pPr>
            <a:r>
              <a:rPr lang="en-US" sz="1589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Machine Learning Model &amp; Evaluation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23888" y="3721401"/>
            <a:ext cx="447823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7"/>
              </a:lnSpc>
            </a:pPr>
            <a:r>
              <a:rPr lang="en-US" sz="1589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Conclusion, Recommendations &amp; Future Work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0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388029" y="2617685"/>
            <a:ext cx="1714674" cy="1859179"/>
            <a:chOff x="0" y="0"/>
            <a:chExt cx="4658717" cy="5051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58628" cy="5051307"/>
            </a:xfrm>
            <a:custGeom>
              <a:avLst/>
              <a:gdLst/>
              <a:ahLst/>
              <a:cxnLst/>
              <a:rect r="r" b="b" t="t" l="l"/>
              <a:pathLst>
                <a:path h="5051307" w="4658628">
                  <a:moveTo>
                    <a:pt x="0" y="0"/>
                  </a:moveTo>
                  <a:lnTo>
                    <a:pt x="4658628" y="0"/>
                  </a:lnTo>
                  <a:lnTo>
                    <a:pt x="4658628" y="5051307"/>
                  </a:lnTo>
                  <a:lnTo>
                    <a:pt x="0" y="50513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8703" r="0" b="-4870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2436078" y="2617685"/>
            <a:ext cx="2225300" cy="1847963"/>
            <a:chOff x="0" y="0"/>
            <a:chExt cx="7255241" cy="602499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255102" cy="6024964"/>
            </a:xfrm>
            <a:custGeom>
              <a:avLst/>
              <a:gdLst/>
              <a:ahLst/>
              <a:cxnLst/>
              <a:rect r="r" b="b" t="t" l="l"/>
              <a:pathLst>
                <a:path h="6024964" w="7255102">
                  <a:moveTo>
                    <a:pt x="0" y="0"/>
                  </a:moveTo>
                  <a:lnTo>
                    <a:pt x="7255102" y="0"/>
                  </a:lnTo>
                  <a:lnTo>
                    <a:pt x="7255102" y="6024964"/>
                  </a:lnTo>
                  <a:lnTo>
                    <a:pt x="0" y="60249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0375" r="0" b="-30375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7357301" y="2639203"/>
            <a:ext cx="2105976" cy="1837661"/>
            <a:chOff x="0" y="0"/>
            <a:chExt cx="4243393" cy="37027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43443" cy="3702770"/>
            </a:xfrm>
            <a:custGeom>
              <a:avLst/>
              <a:gdLst/>
              <a:ahLst/>
              <a:cxnLst/>
              <a:rect r="r" b="b" t="t" l="l"/>
              <a:pathLst>
                <a:path h="3702770" w="4243443">
                  <a:moveTo>
                    <a:pt x="0" y="0"/>
                  </a:moveTo>
                  <a:lnTo>
                    <a:pt x="4243443" y="0"/>
                  </a:lnTo>
                  <a:lnTo>
                    <a:pt x="4243443" y="3702770"/>
                  </a:lnTo>
                  <a:lnTo>
                    <a:pt x="0" y="3702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4980" r="0" b="-1498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4943475" y="2639203"/>
            <a:ext cx="2245610" cy="1826445"/>
          </a:xfrm>
          <a:custGeom>
            <a:avLst/>
            <a:gdLst/>
            <a:ahLst/>
            <a:cxnLst/>
            <a:rect r="r" b="b" t="t" l="l"/>
            <a:pathLst>
              <a:path h="1826445" w="2245610">
                <a:moveTo>
                  <a:pt x="0" y="0"/>
                </a:moveTo>
                <a:lnTo>
                  <a:pt x="2245610" y="0"/>
                </a:lnTo>
                <a:lnTo>
                  <a:pt x="2245610" y="1826446"/>
                </a:lnTo>
                <a:lnTo>
                  <a:pt x="0" y="18264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69" t="-49613" r="-3664" b="-21424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436078" y="4681465"/>
            <a:ext cx="2050613" cy="295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8"/>
              </a:lnSpc>
            </a:pPr>
            <a:r>
              <a:rPr lang="en-US" b="true" sz="1899" u="sng">
                <a:solidFill>
                  <a:srgbClr val="0000FF"/>
                </a:solidFill>
                <a:latin typeface="Arimo Bold"/>
                <a:ea typeface="Arimo Bold"/>
                <a:cs typeface="Arimo Bold"/>
                <a:sym typeface="Arimo Bold"/>
                <a:hlinkClick r:id="rId6" tooltip="https://www.linkedin.com/in/mohamedkaasab/"/>
              </a:rPr>
              <a:t>Mohamed Kassab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42987" y="108128"/>
            <a:ext cx="4414314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Team Members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88029" y="4681465"/>
            <a:ext cx="1675686" cy="295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8"/>
              </a:lnSpc>
            </a:pPr>
            <a:r>
              <a:rPr lang="en-US" b="true" sz="1899" u="sng">
                <a:solidFill>
                  <a:srgbClr val="0000FF"/>
                </a:solidFill>
                <a:latin typeface="Arimo Bold"/>
                <a:ea typeface="Arimo Bold"/>
                <a:cs typeface="Arimo Bold"/>
                <a:sym typeface="Arimo Bold"/>
                <a:hlinkClick r:id="rId7" tooltip="https://www.linkedin.com/in/hamdy-osama/"/>
              </a:rPr>
              <a:t>Hamdy Osama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57301" y="4681465"/>
            <a:ext cx="1996678" cy="295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8"/>
              </a:lnSpc>
            </a:pPr>
            <a:r>
              <a:rPr lang="en-US" b="true" sz="1899" u="sng">
                <a:solidFill>
                  <a:srgbClr val="0000FF"/>
                </a:solidFill>
                <a:latin typeface="Arimo Bold"/>
                <a:ea typeface="Arimo Bold"/>
                <a:cs typeface="Arimo Bold"/>
                <a:sym typeface="Arimo Bold"/>
                <a:hlinkClick r:id="rId8" tooltip="https://www.linkedin.com/in/yousef-bahgt/"/>
              </a:rPr>
              <a:t>Yousef Mohamed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362472" y="4681465"/>
            <a:ext cx="1474887" cy="295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8"/>
              </a:lnSpc>
              <a:spcBef>
                <a:spcPct val="0"/>
              </a:spcBef>
            </a:pPr>
            <a:r>
              <a:rPr lang="en-US" b="true" sz="1899" strike="noStrike" u="sng">
                <a:solidFill>
                  <a:srgbClr val="0000FF"/>
                </a:solidFill>
                <a:latin typeface="Arimo Bold"/>
                <a:ea typeface="Arimo Bold"/>
                <a:cs typeface="Arimo Bold"/>
                <a:sym typeface="Arimo Bold"/>
              </a:rPr>
              <a:t>Saja Elsayed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25750" y="2418926"/>
            <a:ext cx="2920008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Introduction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-615401" y="3429000"/>
            <a:ext cx="3889480" cy="9525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0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0270" y="309691"/>
            <a:ext cx="7979735" cy="520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0"/>
              </a:lnSpc>
            </a:pPr>
            <a:r>
              <a:rPr lang="en-US" sz="305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Pr</a:t>
            </a:r>
            <a:r>
              <a:rPr lang="en-US" sz="305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oject Overview &amp; Problem 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1242" y="2477977"/>
            <a:ext cx="9353547" cy="893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4"/>
              </a:lnSpc>
              <a:spcBef>
                <a:spcPct val="0"/>
              </a:spcBef>
            </a:pPr>
            <a:r>
              <a:rPr lang="en-US" sz="1903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Job platforms are flooded with fake listings designed to steal money or personal data from applicants. This erodes user trust in hiring platforms and wastes job seekers' time and effort.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1242" y="1539675"/>
            <a:ext cx="4075418" cy="496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4"/>
              </a:lnSpc>
              <a:spcBef>
                <a:spcPct val="0"/>
              </a:spcBef>
            </a:pPr>
            <a:r>
              <a:rPr lang="en-US" b="true" sz="287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 Business Problem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9663" y="3600448"/>
            <a:ext cx="3301722" cy="476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7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Our Mission &amp; Goal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260" y="4448120"/>
            <a:ext cx="9175890" cy="838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  <a:spcBef>
                <a:spcPct val="0"/>
              </a:spcBef>
            </a:pPr>
            <a:r>
              <a:rPr lang="en-US" sz="17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Build an automated machine learning classifier that reads a job posting's text and metadata to predict whether it is Real (0) or Fraudulent (1) — enabling platforms to flag scams before they reach job seekers.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60149" y="5733961"/>
            <a:ext cx="5963484" cy="21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8"/>
              </a:lnSpc>
              <a:spcBef>
                <a:spcPct val="0"/>
              </a:spcBef>
            </a:pPr>
            <a:r>
              <a:rPr lang="en-US" sz="129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Problem Framing: Supervised Binary Classification with Highly Imbalanced Target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302736" y="5679180"/>
            <a:ext cx="1544409" cy="273831"/>
            <a:chOff x="0" y="0"/>
            <a:chExt cx="2686050" cy="47625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2686050" cy="476250"/>
            </a:xfrm>
            <a:custGeom>
              <a:avLst/>
              <a:gdLst/>
              <a:ahLst/>
              <a:cxnLst/>
              <a:rect r="r" b="b" t="t" l="l"/>
              <a:pathLst>
                <a:path h="476250" w="2686050">
                  <a:moveTo>
                    <a:pt x="0" y="0"/>
                  </a:moveTo>
                  <a:lnTo>
                    <a:pt x="2686050" y="0"/>
                  </a:lnTo>
                  <a:lnTo>
                    <a:pt x="2686050" y="476250"/>
                  </a:lnTo>
                  <a:lnTo>
                    <a:pt x="0" y="476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000" r="0" b="-200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0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0270" y="309691"/>
            <a:ext cx="7979735" cy="520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0"/>
              </a:lnSpc>
            </a:pPr>
            <a:r>
              <a:rPr lang="en-US" sz="305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Why</a:t>
            </a:r>
            <a:r>
              <a:rPr lang="en-US" sz="305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This Matters (Business Impact)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5830" y="2763476"/>
            <a:ext cx="2904776" cy="256811"/>
            <a:chOff x="0" y="0"/>
            <a:chExt cx="6464198" cy="571500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6464173" cy="571500"/>
            </a:xfrm>
            <a:custGeom>
              <a:avLst/>
              <a:gdLst/>
              <a:ahLst/>
              <a:cxnLst/>
              <a:rect r="r" b="b" t="t" l="l"/>
              <a:pathLst>
                <a:path h="571500" w="6464173">
                  <a:moveTo>
                    <a:pt x="0" y="0"/>
                  </a:moveTo>
                  <a:lnTo>
                    <a:pt x="6464173" y="0"/>
                  </a:lnTo>
                  <a:lnTo>
                    <a:pt x="6464173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262" r="0" b="-1264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63815" y="3224771"/>
            <a:ext cx="92880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0"/>
              </a:lnSpc>
            </a:pPr>
            <a:r>
              <a:rPr lang="en-US" sz="2391" b="true">
                <a:solidFill>
                  <a:srgbClr val="DC2626"/>
                </a:solidFill>
                <a:latin typeface="Arimo Bold"/>
                <a:ea typeface="Arimo Bold"/>
                <a:cs typeface="Arimo Bold"/>
                <a:sym typeface="Arimo Bold"/>
              </a:rPr>
              <a:t>$501M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5685" y="3720430"/>
            <a:ext cx="2904776" cy="566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</a:pPr>
            <a:r>
              <a:rPr lang="en-US" sz="1076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Reported U.S. job-scam losses in 2024 (up from $90M in 2020)</a:t>
            </a:r>
          </a:p>
          <a:p>
            <a:pPr algn="ctr">
              <a:lnSpc>
                <a:spcPts val="1559"/>
              </a:lnSpc>
            </a:pPr>
            <a:r>
              <a:rPr lang="en-US" sz="1076" i="true">
                <a:solidFill>
                  <a:srgbClr val="991B1B"/>
                </a:solidFill>
                <a:latin typeface="Inter Italics"/>
                <a:ea typeface="Inter Italics"/>
                <a:cs typeface="Inter Italics"/>
                <a:sym typeface="Inter Italics"/>
              </a:rPr>
              <a:t>Source: FTC Data Book 2024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494229" y="2763476"/>
            <a:ext cx="2904776" cy="256811"/>
            <a:chOff x="0" y="0"/>
            <a:chExt cx="6464198" cy="57150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6464173" cy="571500"/>
            </a:xfrm>
            <a:custGeom>
              <a:avLst/>
              <a:gdLst/>
              <a:ahLst/>
              <a:cxnLst/>
              <a:rect r="r" b="b" t="t" l="l"/>
              <a:pathLst>
                <a:path h="571500" w="6464173">
                  <a:moveTo>
                    <a:pt x="0" y="0"/>
                  </a:moveTo>
                  <a:lnTo>
                    <a:pt x="6464173" y="0"/>
                  </a:lnTo>
                  <a:lnTo>
                    <a:pt x="6464173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62" r="0" b="-1264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600442" y="3224771"/>
            <a:ext cx="69234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0"/>
              </a:lnSpc>
            </a:pPr>
            <a:r>
              <a:rPr lang="en-US" sz="2391" b="true">
                <a:solidFill>
                  <a:srgbClr val="2563EB"/>
                </a:solidFill>
                <a:latin typeface="Arimo Bold"/>
                <a:ea typeface="Arimo Bold"/>
                <a:cs typeface="Arimo Bold"/>
                <a:sym typeface="Arimo Bold"/>
              </a:rPr>
              <a:t>4.8%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94229" y="3720430"/>
            <a:ext cx="2904776" cy="566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</a:pPr>
            <a:r>
              <a:rPr lang="en-US" sz="1076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rPr>
              <a:t>Fraudulent rate in dataset (866 / 17,880 listings)</a:t>
            </a:r>
          </a:p>
          <a:p>
            <a:pPr algn="ctr">
              <a:lnSpc>
                <a:spcPts val="1559"/>
              </a:lnSpc>
            </a:pPr>
            <a:r>
              <a:rPr lang="en-US" sz="1076" i="true">
                <a:solidFill>
                  <a:srgbClr val="1E40AF"/>
                </a:solidFill>
                <a:latin typeface="Inter Italics"/>
                <a:ea typeface="Inter Italics"/>
                <a:cs typeface="Inter Italics"/>
                <a:sym typeface="Inter Italics"/>
              </a:rPr>
              <a:t>Rare event, but high financial impact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12627" y="2763476"/>
            <a:ext cx="2904913" cy="256811"/>
            <a:chOff x="0" y="0"/>
            <a:chExt cx="6464503" cy="57150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6464554" cy="571500"/>
            </a:xfrm>
            <a:custGeom>
              <a:avLst/>
              <a:gdLst/>
              <a:ahLst/>
              <a:cxnLst/>
              <a:rect r="r" b="b" t="t" l="l"/>
              <a:pathLst>
                <a:path h="571500" w="6464554">
                  <a:moveTo>
                    <a:pt x="0" y="0"/>
                  </a:moveTo>
                  <a:lnTo>
                    <a:pt x="6464554" y="0"/>
                  </a:lnTo>
                  <a:lnTo>
                    <a:pt x="6464554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264" r="0" b="-1266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612618" y="3291446"/>
            <a:ext cx="158853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6"/>
              </a:lnSpc>
            </a:pPr>
            <a:r>
              <a:rPr lang="en-US" sz="138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Personal Data Risk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12627" y="3815680"/>
            <a:ext cx="2904913" cy="375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</a:pPr>
            <a:r>
              <a:rPr lang="en-US" sz="1076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Scams harvest IDs, bank info, or demand upfront "fees" from vulnerable applicants.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0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>
            <a:off x="330275" y="6338887"/>
            <a:ext cx="8793399" cy="9515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454283" y="6381740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0270" y="309691"/>
            <a:ext cx="7979735" cy="520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0"/>
              </a:lnSpc>
            </a:pPr>
            <a:r>
              <a:rPr lang="en-US" sz="305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</a:t>
            </a:r>
            <a:r>
              <a:rPr lang="en-US" sz="305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ataset Overview &amp; Schema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2590" y="1420351"/>
            <a:ext cx="8671084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Source &amp; Dimensions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2300" y="1901364"/>
            <a:ext cx="382905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925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17,880 Job Postings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02179" y="2555858"/>
            <a:ext cx="4048579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40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18 Original Attributes (Text, Categorical, Binary)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2300" y="2927333"/>
            <a:ext cx="368762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4"/>
              </a:lnSpc>
            </a:pPr>
            <a:r>
              <a:rPr lang="en-US" sz="2212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Target Imbalance Split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1231" y="3422633"/>
            <a:ext cx="4409531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5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Real: </a:t>
            </a:r>
            <a:r>
              <a:rPr lang="en-US" sz="1518" b="true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17,014 (95.2%)</a:t>
            </a:r>
            <a:r>
              <a:rPr lang="en-US" sz="1518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| Fraudulent: </a:t>
            </a:r>
            <a:r>
              <a:rPr lang="en-US" sz="1518" b="true">
                <a:solidFill>
                  <a:srgbClr val="475569"/>
                </a:solidFill>
                <a:latin typeface="Inter Bold"/>
                <a:ea typeface="Inter Bold"/>
                <a:cs typeface="Inter Bold"/>
                <a:sym typeface="Inter Bold"/>
              </a:rPr>
              <a:t>866 (4.8%)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2590" y="4022708"/>
            <a:ext cx="8041005" cy="319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F172A"/>
                </a:solidFill>
                <a:latin typeface="Arimo Bold"/>
                <a:ea typeface="Arimo Bold"/>
                <a:cs typeface="Arimo Bold"/>
                <a:sym typeface="Arimo Bold"/>
              </a:rPr>
              <a:t>Key Original Features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1231" y="4503720"/>
            <a:ext cx="5505701" cy="39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3"/>
              </a:lnSpc>
            </a:pPr>
            <a:r>
              <a:rPr lang="en-US" sz="1311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Text Fields:</a:t>
            </a:r>
            <a:r>
              <a:rPr lang="en-US" sz="131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title, location, department, company_profile, description, requirements, benefits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9285" y="5016219"/>
            <a:ext cx="5477646" cy="39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3"/>
              </a:lnSpc>
            </a:pPr>
            <a:r>
              <a:rPr lang="en-US" sz="1311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Categorical Fields:</a:t>
            </a:r>
            <a:r>
              <a:rPr lang="en-US" sz="131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employment_type, required_experience, required_education, industry, function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9285" y="5528717"/>
            <a:ext cx="5477646" cy="196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3"/>
              </a:lnSpc>
            </a:pPr>
            <a:r>
              <a:rPr lang="en-US" sz="1311" b="true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Binary Flags:</a:t>
            </a:r>
            <a:r>
              <a:rPr lang="en-US" sz="131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telecommuting, has_company_logo, has_questions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2595" y="2743200"/>
            <a:ext cx="779621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</a:t>
            </a:r>
            <a:r>
              <a:rPr lang="en-US" sz="4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ata Cleaning &amp; Preprocessing</a:t>
            </a:r>
          </a:p>
        </p:txBody>
      </p:sp>
      <p:sp>
        <p:nvSpPr>
          <p:cNvPr name="AutoShape 4" id="4"/>
          <p:cNvSpPr/>
          <p:nvPr/>
        </p:nvSpPr>
        <p:spPr>
          <a:xfrm>
            <a:off x="-1472491" y="3748826"/>
            <a:ext cx="4933876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0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9104" y="184328"/>
            <a:ext cx="6730394" cy="723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</a:t>
            </a:r>
            <a:r>
              <a:rPr lang="en-US" sz="41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ata Cleaning Architecture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11229" y="1960353"/>
            <a:ext cx="3556517" cy="1196124"/>
            <a:chOff x="0" y="0"/>
            <a:chExt cx="6810375" cy="2290458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810375" cy="2290445"/>
            </a:xfrm>
            <a:custGeom>
              <a:avLst/>
              <a:gdLst/>
              <a:ahLst/>
              <a:cxnLst/>
              <a:rect r="r" b="b" t="t" l="l"/>
              <a:pathLst>
                <a:path h="2290445" w="6810375">
                  <a:moveTo>
                    <a:pt x="0" y="0"/>
                  </a:moveTo>
                  <a:lnTo>
                    <a:pt x="6810375" y="0"/>
                  </a:lnTo>
                  <a:lnTo>
                    <a:pt x="6810375" y="2290445"/>
                  </a:lnTo>
                  <a:lnTo>
                    <a:pt x="0" y="2290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63" r="0" b="-66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505026" y="3351897"/>
            <a:ext cx="3440477" cy="1157097"/>
            <a:chOff x="0" y="0"/>
            <a:chExt cx="6810375" cy="2290458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6810375" cy="2290445"/>
            </a:xfrm>
            <a:custGeom>
              <a:avLst/>
              <a:gdLst/>
              <a:ahLst/>
              <a:cxnLst/>
              <a:rect r="r" b="b" t="t" l="l"/>
              <a:pathLst>
                <a:path h="2290445" w="6810375">
                  <a:moveTo>
                    <a:pt x="0" y="0"/>
                  </a:moveTo>
                  <a:lnTo>
                    <a:pt x="6810375" y="0"/>
                  </a:lnTo>
                  <a:lnTo>
                    <a:pt x="6810375" y="2290445"/>
                  </a:lnTo>
                  <a:lnTo>
                    <a:pt x="0" y="2290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63" r="0" b="-66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049310" y="4771481"/>
            <a:ext cx="4078284" cy="1143003"/>
            <a:chOff x="0" y="0"/>
            <a:chExt cx="8172450" cy="2290458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8172450" cy="2290445"/>
            </a:xfrm>
            <a:custGeom>
              <a:avLst/>
              <a:gdLst/>
              <a:ahLst/>
              <a:cxnLst/>
              <a:rect r="r" b="b" t="t" l="l"/>
              <a:pathLst>
                <a:path h="2290445" w="8172450">
                  <a:moveTo>
                    <a:pt x="0" y="0"/>
                  </a:moveTo>
                  <a:lnTo>
                    <a:pt x="8172450" y="0"/>
                  </a:lnTo>
                  <a:lnTo>
                    <a:pt x="8172450" y="2290445"/>
                  </a:lnTo>
                  <a:lnTo>
                    <a:pt x="0" y="2290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34" r="0" b="-735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559813" y="2265013"/>
            <a:ext cx="2643502" cy="674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257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All missing categorical/text values filled with . 0 rows dropped (100% retention).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27559" y="3739102"/>
            <a:ext cx="2643502" cy="674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257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Audited dataset for fully identical row duplicates. 0 duplicates detected across dataset.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563018" y="5133581"/>
            <a:ext cx="3242584" cy="635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4"/>
              </a:lnSpc>
            </a:pPr>
            <a:r>
              <a:rPr lang="en-US" sz="1224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rPr>
              <a:t>Lowercase | Strip HTML | Remove URLs | Remove Emails | Remove Punctuation | Collapse Whitespace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87183" y="2084038"/>
            <a:ext cx="1298615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7"/>
              </a:lnSpc>
            </a:pPr>
            <a:r>
              <a:rPr lang="en-US" sz="1389" b="true">
                <a:solidFill>
                  <a:srgbClr val="1E293B"/>
                </a:solidFill>
                <a:latin typeface="Inter Bold"/>
                <a:ea typeface="Inter Bold"/>
                <a:cs typeface="Inter Bold"/>
                <a:sym typeface="Inter Bold"/>
              </a:rPr>
              <a:t>Missing Values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39610" y="3514095"/>
            <a:ext cx="1409700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7"/>
              </a:lnSpc>
            </a:pPr>
            <a:r>
              <a:rPr lang="en-US" sz="1389" b="true">
                <a:solidFill>
                  <a:srgbClr val="1E293B"/>
                </a:solidFill>
                <a:latin typeface="Inter Bold"/>
                <a:ea typeface="Inter Bold"/>
                <a:cs typeface="Inter Bold"/>
                <a:sym typeface="Inter Bold"/>
              </a:rPr>
              <a:t>Duplicates Audit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225264" y="4962131"/>
            <a:ext cx="1812488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7"/>
              </a:lnSpc>
            </a:pPr>
            <a:r>
              <a:rPr lang="en-US" sz="1389" b="true">
                <a:solidFill>
                  <a:srgbClr val="1E293B"/>
                </a:solidFill>
                <a:latin typeface="Inter Bold"/>
                <a:ea typeface="Inter Bold"/>
                <a:cs typeface="Inter Bold"/>
                <a:sym typeface="Inter Bold"/>
              </a:rPr>
              <a:t>6-Step Text Cleaning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2595" y="2601571"/>
            <a:ext cx="8394146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Fe</a:t>
            </a:r>
            <a:r>
              <a:rPr lang="en-US" sz="4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ature Engineering </a:t>
            </a:r>
          </a:p>
        </p:txBody>
      </p:sp>
      <p:sp>
        <p:nvSpPr>
          <p:cNvPr name="AutoShape 4" id="4"/>
          <p:cNvSpPr/>
          <p:nvPr/>
        </p:nvSpPr>
        <p:spPr>
          <a:xfrm>
            <a:off x="-1872817" y="3390896"/>
            <a:ext cx="4716960" cy="38104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902857" cy="1026195"/>
            <a:chOff x="0" y="0"/>
            <a:chExt cx="13203809" cy="13682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368220"/>
            </a:xfrm>
            <a:custGeom>
              <a:avLst/>
              <a:gdLst/>
              <a:ahLst/>
              <a:cxnLst/>
              <a:rect r="r" b="b" t="t" l="l"/>
              <a:pathLst>
                <a:path h="136822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368220"/>
                  </a:lnTo>
                  <a:lnTo>
                    <a:pt x="0" y="136822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7524" y="241635"/>
            <a:ext cx="530887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Fe</a:t>
            </a: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ature Engineering Strategy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552459" y="1367878"/>
          <a:ext cx="8540369" cy="3219872"/>
        </p:xfrm>
        <a:graphic>
          <a:graphicData uri="http://schemas.openxmlformats.org/drawingml/2006/table">
            <a:tbl>
              <a:tblPr/>
              <a:tblGrid>
                <a:gridCol w="2562042"/>
                <a:gridCol w="5978327"/>
              </a:tblGrid>
              <a:tr h="54281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18"/>
                        </a:lnSpc>
                        <a:defRPr/>
                      </a:pPr>
                      <a:r>
                        <a:rPr lang="en-US" sz="932" b="true">
                          <a:solidFill>
                            <a:srgbClr val="0F172A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New Feature</a:t>
                      </a:r>
                      <a:endParaRPr lang="en-US" sz="1100"/>
                    </a:p>
                  </a:txBody>
                  <a:tcPr marL="37589" marR="37589" marT="37589" marB="37589" anchor="ctr">
                    <a:lnL cmpd="sng" algn="ctr" cap="flat" w="2819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19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19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19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18"/>
                        </a:lnSpc>
                        <a:defRPr/>
                      </a:pPr>
                      <a:r>
                        <a:rPr lang="en-US" sz="932" b="true">
                          <a:solidFill>
                            <a:srgbClr val="0F172A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What It Captures</a:t>
                      </a:r>
                      <a:endParaRPr lang="en-US" sz="1100"/>
                    </a:p>
                  </a:txBody>
                  <a:tcPr marL="37589" marR="37589" marT="37589" marB="37589" anchor="ctr">
                    <a:lnL cmpd="sng" algn="ctr" cap="flat" w="2819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19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19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19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890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18"/>
                        </a:lnSpc>
                        <a:defRPr/>
                      </a:pPr>
                      <a:r>
                        <a:rPr lang="en-US" sz="932" b="true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missing_fields_count</a:t>
                      </a:r>
                      <a:endParaRPr lang="en-US" sz="1100"/>
                    </a:p>
                  </a:txBody>
                  <a:tcPr marL="37589" marR="37589" marT="37589" marB="37589" anchor="ctr">
                    <a:lnL cmpd="sng" algn="ctr" cap="flat" w="2819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19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19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19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18"/>
                        </a:lnSpc>
                        <a:defRPr/>
                      </a:pPr>
                      <a:r>
                        <a:rPr lang="en-US" sz="932" b="true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Total number of missing fields per posting — a proxy for listing "incompleteness".</a:t>
                      </a:r>
                      <a:endParaRPr lang="en-US" sz="1100"/>
                    </a:p>
                  </a:txBody>
                  <a:tcPr marL="37589" marR="37589" marT="37589" marB="37589" anchor="ctr">
                    <a:lnL cmpd="sng" algn="ctr" cap="flat" w="2819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19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19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19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449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18"/>
                        </a:lnSpc>
                        <a:defRPr/>
                      </a:pPr>
                      <a:r>
                        <a:rPr lang="en-US" sz="932" b="true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has_salary, has_description, ...</a:t>
                      </a:r>
                      <a:endParaRPr lang="en-US" sz="1100"/>
                    </a:p>
                  </a:txBody>
                  <a:tcPr marL="37589" marR="37589" marT="37589" marB="37589" anchor="ctr">
                    <a:lnL cmpd="sng" algn="ctr" cap="flat" w="2819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19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19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19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18"/>
                        </a:lnSpc>
                        <a:defRPr/>
                      </a:pPr>
                      <a:r>
                        <a:rPr lang="en-US" sz="932" b="true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Binary flags (1 or 0): presence of specific information (company profile, requirements, benefits, location).</a:t>
                      </a:r>
                      <a:endParaRPr lang="en-US" sz="1100"/>
                    </a:p>
                  </a:txBody>
                  <a:tcPr marL="37589" marR="37589" marT="37589" marB="37589" anchor="ctr">
                    <a:lnL cmpd="sng" algn="ctr" cap="flat" w="2819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19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19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19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334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18"/>
                        </a:lnSpc>
                        <a:defRPr/>
                      </a:pPr>
                      <a:r>
                        <a:rPr lang="en-US" sz="932" b="true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job_context</a:t>
                      </a:r>
                      <a:endParaRPr lang="en-US" sz="1100"/>
                    </a:p>
                  </a:txBody>
                  <a:tcPr marL="37589" marR="37589" marT="37589" marB="37589" anchor="ctr">
                    <a:lnL cmpd="sng" algn="ctr" cap="flat" w="2819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19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19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19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18"/>
                        </a:lnSpc>
                        <a:defRPr/>
                      </a:pPr>
                      <a:r>
                        <a:rPr lang="en-US" sz="932" b="true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Combined text of title + industry + function to provide domain context.</a:t>
                      </a:r>
                      <a:endParaRPr lang="en-US" sz="1100"/>
                    </a:p>
                  </a:txBody>
                  <a:tcPr marL="37589" marR="37589" marT="37589" marB="37589" anchor="ctr">
                    <a:lnL cmpd="sng" algn="ctr" cap="flat" w="2819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19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19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19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4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18"/>
                        </a:lnSpc>
                        <a:defRPr/>
                      </a:pPr>
                      <a:r>
                        <a:rPr lang="en-US" sz="932" b="true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title_len, description_len</a:t>
                      </a:r>
                      <a:endParaRPr lang="en-US" sz="1100"/>
                    </a:p>
                  </a:txBody>
                  <a:tcPr marL="37589" marR="37589" marT="37589" marB="37589" anchor="ctr">
                    <a:lnL cmpd="sng" algn="ctr" cap="flat" w="2819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19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19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19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118"/>
                        </a:lnSpc>
                        <a:defRPr/>
                      </a:pPr>
                      <a:r>
                        <a:rPr lang="en-US" sz="932" b="true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Character lengths of title and description fields.</a:t>
                      </a:r>
                      <a:endParaRPr lang="en-US" sz="1100"/>
                    </a:p>
                  </a:txBody>
                  <a:tcPr marL="37589" marR="37589" marT="37589" marB="37589" anchor="ctr">
                    <a:lnL cmpd="sng" algn="ctr" cap="flat" w="2819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19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19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19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7" id="7"/>
          <p:cNvGrpSpPr/>
          <p:nvPr/>
        </p:nvGrpSpPr>
        <p:grpSpPr>
          <a:xfrm rot="0">
            <a:off x="24364" y="2042890"/>
            <a:ext cx="2963469" cy="8458"/>
            <a:chOff x="0" y="0"/>
            <a:chExt cx="6674942" cy="190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74993" cy="19050"/>
            </a:xfrm>
            <a:custGeom>
              <a:avLst/>
              <a:gdLst/>
              <a:ahLst/>
              <a:cxnLst/>
              <a:rect r="r" b="b" t="t" l="l"/>
              <a:pathLst>
                <a:path h="19050" w="6674993">
                  <a:moveTo>
                    <a:pt x="0" y="0"/>
                  </a:moveTo>
                  <a:lnTo>
                    <a:pt x="6674993" y="0"/>
                  </a:lnTo>
                  <a:lnTo>
                    <a:pt x="667499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2987833" y="2042890"/>
            <a:ext cx="6915024" cy="8458"/>
            <a:chOff x="0" y="0"/>
            <a:chExt cx="15575458" cy="190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575407" cy="19050"/>
            </a:xfrm>
            <a:custGeom>
              <a:avLst/>
              <a:gdLst/>
              <a:ahLst/>
              <a:cxnLst/>
              <a:rect r="r" b="b" t="t" l="l"/>
              <a:pathLst>
                <a:path h="19050" w="15575407">
                  <a:moveTo>
                    <a:pt x="0" y="0"/>
                  </a:moveTo>
                  <a:lnTo>
                    <a:pt x="15575407" y="0"/>
                  </a:lnTo>
                  <a:lnTo>
                    <a:pt x="1557540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4364" y="2381194"/>
            <a:ext cx="2963469" cy="8458"/>
            <a:chOff x="0" y="0"/>
            <a:chExt cx="6674942" cy="190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74993" cy="19050"/>
            </a:xfrm>
            <a:custGeom>
              <a:avLst/>
              <a:gdLst/>
              <a:ahLst/>
              <a:cxnLst/>
              <a:rect r="r" b="b" t="t" l="l"/>
              <a:pathLst>
                <a:path h="19050" w="6674993">
                  <a:moveTo>
                    <a:pt x="0" y="0"/>
                  </a:moveTo>
                  <a:lnTo>
                    <a:pt x="6674993" y="0"/>
                  </a:lnTo>
                  <a:lnTo>
                    <a:pt x="667499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987833" y="2381194"/>
            <a:ext cx="6915024" cy="8458"/>
            <a:chOff x="0" y="0"/>
            <a:chExt cx="15575458" cy="19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575407" cy="19050"/>
            </a:xfrm>
            <a:custGeom>
              <a:avLst/>
              <a:gdLst/>
              <a:ahLst/>
              <a:cxnLst/>
              <a:rect r="r" b="b" t="t" l="l"/>
              <a:pathLst>
                <a:path h="19050" w="15575407">
                  <a:moveTo>
                    <a:pt x="0" y="0"/>
                  </a:moveTo>
                  <a:lnTo>
                    <a:pt x="15575407" y="0"/>
                  </a:lnTo>
                  <a:lnTo>
                    <a:pt x="1557540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4364" y="2719499"/>
            <a:ext cx="2963469" cy="8458"/>
            <a:chOff x="0" y="0"/>
            <a:chExt cx="6674942" cy="190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74993" cy="19050"/>
            </a:xfrm>
            <a:custGeom>
              <a:avLst/>
              <a:gdLst/>
              <a:ahLst/>
              <a:cxnLst/>
              <a:rect r="r" b="b" t="t" l="l"/>
              <a:pathLst>
                <a:path h="19050" w="6674993">
                  <a:moveTo>
                    <a:pt x="0" y="0"/>
                  </a:moveTo>
                  <a:lnTo>
                    <a:pt x="6674993" y="0"/>
                  </a:lnTo>
                  <a:lnTo>
                    <a:pt x="667499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987833" y="2719499"/>
            <a:ext cx="6915024" cy="8458"/>
            <a:chOff x="0" y="0"/>
            <a:chExt cx="15575458" cy="190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575407" cy="19050"/>
            </a:xfrm>
            <a:custGeom>
              <a:avLst/>
              <a:gdLst/>
              <a:ahLst/>
              <a:cxnLst/>
              <a:rect r="r" b="b" t="t" l="l"/>
              <a:pathLst>
                <a:path h="19050" w="15575407">
                  <a:moveTo>
                    <a:pt x="0" y="0"/>
                  </a:moveTo>
                  <a:lnTo>
                    <a:pt x="15575407" y="0"/>
                  </a:lnTo>
                  <a:lnTo>
                    <a:pt x="1557540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24364" y="3057803"/>
            <a:ext cx="2963469" cy="8458"/>
            <a:chOff x="0" y="0"/>
            <a:chExt cx="6674942" cy="190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674993" cy="19050"/>
            </a:xfrm>
            <a:custGeom>
              <a:avLst/>
              <a:gdLst/>
              <a:ahLst/>
              <a:cxnLst/>
              <a:rect r="r" b="b" t="t" l="l"/>
              <a:pathLst>
                <a:path h="19050" w="6674993">
                  <a:moveTo>
                    <a:pt x="0" y="0"/>
                  </a:moveTo>
                  <a:lnTo>
                    <a:pt x="6674993" y="0"/>
                  </a:lnTo>
                  <a:lnTo>
                    <a:pt x="667499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2987833" y="3057803"/>
            <a:ext cx="6915024" cy="8458"/>
            <a:chOff x="0" y="0"/>
            <a:chExt cx="15575458" cy="190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575407" cy="19050"/>
            </a:xfrm>
            <a:custGeom>
              <a:avLst/>
              <a:gdLst/>
              <a:ahLst/>
              <a:cxnLst/>
              <a:rect r="r" b="b" t="t" l="l"/>
              <a:pathLst>
                <a:path h="19050" w="15575407">
                  <a:moveTo>
                    <a:pt x="0" y="0"/>
                  </a:moveTo>
                  <a:lnTo>
                    <a:pt x="15575407" y="0"/>
                  </a:lnTo>
                  <a:lnTo>
                    <a:pt x="1557540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4364" y="3396108"/>
            <a:ext cx="2963469" cy="8458"/>
            <a:chOff x="0" y="0"/>
            <a:chExt cx="6674942" cy="190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674993" cy="19050"/>
            </a:xfrm>
            <a:custGeom>
              <a:avLst/>
              <a:gdLst/>
              <a:ahLst/>
              <a:cxnLst/>
              <a:rect r="r" b="b" t="t" l="l"/>
              <a:pathLst>
                <a:path h="19050" w="6674993">
                  <a:moveTo>
                    <a:pt x="0" y="0"/>
                  </a:moveTo>
                  <a:lnTo>
                    <a:pt x="6674993" y="0"/>
                  </a:lnTo>
                  <a:lnTo>
                    <a:pt x="667499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987833" y="3396108"/>
            <a:ext cx="6915024" cy="8458"/>
            <a:chOff x="0" y="0"/>
            <a:chExt cx="15575458" cy="190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575407" cy="19050"/>
            </a:xfrm>
            <a:custGeom>
              <a:avLst/>
              <a:gdLst/>
              <a:ahLst/>
              <a:cxnLst/>
              <a:rect r="r" b="b" t="t" l="l"/>
              <a:pathLst>
                <a:path h="19050" w="15575407">
                  <a:moveTo>
                    <a:pt x="0" y="0"/>
                  </a:moveTo>
                  <a:lnTo>
                    <a:pt x="15575407" y="0"/>
                  </a:lnTo>
                  <a:lnTo>
                    <a:pt x="1557540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24364" y="3734412"/>
            <a:ext cx="2963469" cy="8458"/>
            <a:chOff x="0" y="0"/>
            <a:chExt cx="6674942" cy="190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674993" cy="19050"/>
            </a:xfrm>
            <a:custGeom>
              <a:avLst/>
              <a:gdLst/>
              <a:ahLst/>
              <a:cxnLst/>
              <a:rect r="r" b="b" t="t" l="l"/>
              <a:pathLst>
                <a:path h="19050" w="6674993">
                  <a:moveTo>
                    <a:pt x="0" y="0"/>
                  </a:moveTo>
                  <a:lnTo>
                    <a:pt x="6674993" y="0"/>
                  </a:lnTo>
                  <a:lnTo>
                    <a:pt x="667499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2987833" y="3734412"/>
            <a:ext cx="6915024" cy="8458"/>
            <a:chOff x="0" y="0"/>
            <a:chExt cx="15575458" cy="190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575407" cy="19050"/>
            </a:xfrm>
            <a:custGeom>
              <a:avLst/>
              <a:gdLst/>
              <a:ahLst/>
              <a:cxnLst/>
              <a:rect r="r" b="b" t="t" l="l"/>
              <a:pathLst>
                <a:path h="19050" w="15575407">
                  <a:moveTo>
                    <a:pt x="0" y="0"/>
                  </a:moveTo>
                  <a:lnTo>
                    <a:pt x="15575407" y="0"/>
                  </a:lnTo>
                  <a:lnTo>
                    <a:pt x="15575407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1F5F9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444137" y="5522728"/>
            <a:ext cx="8757013" cy="36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1"/>
              </a:lnSpc>
            </a:pPr>
            <a:r>
              <a:rPr lang="en-US" sz="994" b="true">
                <a:solidFill>
                  <a:srgbClr val="0369A1"/>
                </a:solidFill>
                <a:latin typeface="Inter Medium"/>
                <a:ea typeface="Inter Medium"/>
                <a:cs typeface="Inter Medium"/>
                <a:sym typeface="Inter Medium"/>
              </a:rPr>
              <a:t>These features don't directly label a posting as fraudulent  but they provide the model with vital structural context and metadata completeness signals that raw text alone misses.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2595" y="2338252"/>
            <a:ext cx="8394146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Ex</a:t>
            </a:r>
            <a:r>
              <a:rPr lang="en-US" sz="4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ploratory Data Analysis (EDA)</a:t>
            </a:r>
          </a:p>
        </p:txBody>
      </p:sp>
      <p:sp>
        <p:nvSpPr>
          <p:cNvPr name="AutoShape 4" id="4"/>
          <p:cNvSpPr/>
          <p:nvPr/>
        </p:nvSpPr>
        <p:spPr>
          <a:xfrm>
            <a:off x="-1872817" y="3390896"/>
            <a:ext cx="4716960" cy="38104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0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4134753" y="1546633"/>
            <a:ext cx="5655660" cy="4186079"/>
          </a:xfrm>
          <a:custGeom>
            <a:avLst/>
            <a:gdLst/>
            <a:ahLst/>
            <a:cxnLst/>
            <a:rect r="r" b="b" t="t" l="l"/>
            <a:pathLst>
              <a:path h="4186079" w="5655660">
                <a:moveTo>
                  <a:pt x="0" y="0"/>
                </a:moveTo>
                <a:lnTo>
                  <a:pt x="5655661" y="0"/>
                </a:lnTo>
                <a:lnTo>
                  <a:pt x="5655661" y="4186080"/>
                </a:lnTo>
                <a:lnTo>
                  <a:pt x="0" y="41860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8695" y="222428"/>
            <a:ext cx="8626269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EDA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069" y="1499008"/>
            <a:ext cx="4040684" cy="2164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257"/>
              </a:lnSpc>
            </a:pPr>
            <a:r>
              <a:rPr lang="en-US" sz="2326">
                <a:solidFill>
                  <a:srgbClr val="000000"/>
                </a:solidFill>
                <a:latin typeface="XM Vahid"/>
                <a:ea typeface="XM Vahid"/>
                <a:cs typeface="XM Vahid"/>
                <a:sym typeface="XM Vahid"/>
              </a:rPr>
              <a:t>Visualize</a:t>
            </a:r>
            <a:r>
              <a:rPr lang="en-US" sz="2326">
                <a:solidFill>
                  <a:srgbClr val="000000"/>
                </a:solidFill>
                <a:latin typeface="XM Vahid"/>
                <a:ea typeface="XM Vahid"/>
                <a:cs typeface="XM Vahid"/>
                <a:sym typeface="XM Vahid"/>
              </a:rPr>
              <a:t> the class distribution</a:t>
            </a:r>
          </a:p>
          <a:p>
            <a:pPr algn="ctr" rtl="true">
              <a:lnSpc>
                <a:spcPts val="2837"/>
              </a:lnSpc>
            </a:pPr>
          </a:p>
          <a:p>
            <a:pPr algn="ctr">
              <a:lnSpc>
                <a:spcPts val="2837"/>
              </a:lnSpc>
            </a:pPr>
            <a:r>
              <a:rPr lang="en-US" sz="2026">
                <a:solidFill>
                  <a:srgbClr val="000000"/>
                </a:solidFill>
                <a:latin typeface="XM Vahid"/>
                <a:ea typeface="XM Vahid"/>
                <a:cs typeface="XM Vahid"/>
                <a:sym typeface="XM Vahid"/>
              </a:rPr>
              <a:t>0 = Real (about 17,800 real job postings)</a:t>
            </a:r>
          </a:p>
          <a:p>
            <a:pPr algn="ctr">
              <a:lnSpc>
                <a:spcPts val="2837"/>
              </a:lnSpc>
            </a:pPr>
            <a:r>
              <a:rPr lang="en-US" sz="2026">
                <a:solidFill>
                  <a:srgbClr val="000000"/>
                </a:solidFill>
                <a:latin typeface="XM Vahid"/>
                <a:ea typeface="XM Vahid"/>
                <a:cs typeface="XM Vahid"/>
                <a:sym typeface="XM Vahid"/>
              </a:rPr>
              <a:t>1 = Fraudulent (about 800 fraudulent postings)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0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740481" y="2273568"/>
            <a:ext cx="6405988" cy="3821570"/>
          </a:xfrm>
          <a:custGeom>
            <a:avLst/>
            <a:gdLst/>
            <a:ahLst/>
            <a:cxnLst/>
            <a:rect r="r" b="b" t="t" l="l"/>
            <a:pathLst>
              <a:path h="3821570" w="6405988">
                <a:moveTo>
                  <a:pt x="0" y="0"/>
                </a:moveTo>
                <a:lnTo>
                  <a:pt x="6405988" y="0"/>
                </a:lnTo>
                <a:lnTo>
                  <a:pt x="6405988" y="3821570"/>
                </a:lnTo>
                <a:lnTo>
                  <a:pt x="0" y="3821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8695" y="222428"/>
            <a:ext cx="8626269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EDA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1140142"/>
            <a:ext cx="9861556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XM Vahid"/>
                <a:ea typeface="XM Vahid"/>
                <a:cs typeface="XM Vahid"/>
                <a:sym typeface="XM Vahid"/>
              </a:rPr>
              <a:t>Compare information availability be</a:t>
            </a:r>
            <a:r>
              <a:rPr lang="en-US" sz="3200">
                <a:solidFill>
                  <a:srgbClr val="000000"/>
                </a:solidFill>
                <a:latin typeface="XM Vahid"/>
                <a:ea typeface="XM Vahid"/>
                <a:cs typeface="XM Vahid"/>
                <a:sym typeface="XM Vahid"/>
              </a:rPr>
              <a:t>tween real and fraudulent job postings</a:t>
            </a:r>
          </a:p>
          <a:p>
            <a:pPr algn="ctr" rtl="true">
              <a:lnSpc>
                <a:spcPts val="4480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0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3089328" y="1387390"/>
            <a:ext cx="6652273" cy="4622426"/>
          </a:xfrm>
          <a:custGeom>
            <a:avLst/>
            <a:gdLst/>
            <a:ahLst/>
            <a:cxnLst/>
            <a:rect r="r" b="b" t="t" l="l"/>
            <a:pathLst>
              <a:path h="4622426" w="6652273">
                <a:moveTo>
                  <a:pt x="0" y="0"/>
                </a:moveTo>
                <a:lnTo>
                  <a:pt x="6652273" y="0"/>
                </a:lnTo>
                <a:lnTo>
                  <a:pt x="6652273" y="4622426"/>
                </a:lnTo>
                <a:lnTo>
                  <a:pt x="0" y="46224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8695" y="222428"/>
            <a:ext cx="8626269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EDA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3256" y="1648648"/>
            <a:ext cx="3532636" cy="2566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074"/>
              </a:lnSpc>
            </a:pPr>
            <a:r>
              <a:rPr lang="en-US" sz="2910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Analyze fraud rates by industry while</a:t>
            </a:r>
            <a:r>
              <a:rPr lang="en-US" sz="2910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 excluding small categories</a:t>
            </a:r>
          </a:p>
          <a:p>
            <a:pPr algn="ctr" rtl="true">
              <a:lnSpc>
                <a:spcPts val="4074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0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782184" y="2298161"/>
            <a:ext cx="6774365" cy="3598881"/>
          </a:xfrm>
          <a:custGeom>
            <a:avLst/>
            <a:gdLst/>
            <a:ahLst/>
            <a:cxnLst/>
            <a:rect r="r" b="b" t="t" l="l"/>
            <a:pathLst>
              <a:path h="3598881" w="6774365">
                <a:moveTo>
                  <a:pt x="0" y="0"/>
                </a:moveTo>
                <a:lnTo>
                  <a:pt x="6774365" y="0"/>
                </a:lnTo>
                <a:lnTo>
                  <a:pt x="6774365" y="3598881"/>
                </a:lnTo>
                <a:lnTo>
                  <a:pt x="0" y="3598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8695" y="222428"/>
            <a:ext cx="8626269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EDA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50080" y="1140142"/>
            <a:ext cx="4638573" cy="153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074"/>
              </a:lnSpc>
            </a:pPr>
            <a:r>
              <a:rPr lang="en-US" sz="2910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Visualize the top 10 industries</a:t>
            </a:r>
            <a:r>
              <a:rPr lang="en-US" sz="2910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 by fraud rate</a:t>
            </a:r>
          </a:p>
          <a:p>
            <a:pPr algn="ctr" rtl="true">
              <a:lnSpc>
                <a:spcPts val="4074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0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831616" y="2626868"/>
            <a:ext cx="6543842" cy="3545332"/>
          </a:xfrm>
          <a:custGeom>
            <a:avLst/>
            <a:gdLst/>
            <a:ahLst/>
            <a:cxnLst/>
            <a:rect r="r" b="b" t="t" l="l"/>
            <a:pathLst>
              <a:path h="3545332" w="6543842">
                <a:moveTo>
                  <a:pt x="0" y="0"/>
                </a:moveTo>
                <a:lnTo>
                  <a:pt x="6543842" y="0"/>
                </a:lnTo>
                <a:lnTo>
                  <a:pt x="6543842" y="3545332"/>
                </a:lnTo>
                <a:lnTo>
                  <a:pt x="0" y="35453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8695" y="222428"/>
            <a:ext cx="8626269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EDA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84250" y="1140142"/>
            <a:ext cx="4638573" cy="204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074"/>
              </a:lnSpc>
            </a:pPr>
            <a:r>
              <a:rPr lang="en-US" sz="2910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Descriptive statistics for information</a:t>
            </a:r>
            <a:r>
              <a:rPr lang="en-US" sz="2910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 availability features</a:t>
            </a:r>
          </a:p>
          <a:p>
            <a:pPr algn="ctr" rtl="true">
              <a:lnSpc>
                <a:spcPts val="4074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0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273503" y="1702539"/>
            <a:ext cx="5292984" cy="4194854"/>
          </a:xfrm>
          <a:custGeom>
            <a:avLst/>
            <a:gdLst/>
            <a:ahLst/>
            <a:cxnLst/>
            <a:rect r="r" b="b" t="t" l="l"/>
            <a:pathLst>
              <a:path h="4194854" w="5292984">
                <a:moveTo>
                  <a:pt x="0" y="0"/>
                </a:moveTo>
                <a:lnTo>
                  <a:pt x="5292984" y="0"/>
                </a:lnTo>
                <a:lnTo>
                  <a:pt x="5292984" y="4194854"/>
                </a:lnTo>
                <a:lnTo>
                  <a:pt x="0" y="41948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8695" y="222428"/>
            <a:ext cx="8626269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EDA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50080" y="1140142"/>
            <a:ext cx="4638573" cy="1016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074"/>
              </a:lnSpc>
            </a:pPr>
            <a:r>
              <a:rPr lang="en-US" sz="2910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Correlation</a:t>
            </a:r>
            <a:r>
              <a:rPr lang="en-US" sz="2910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 Analysis</a:t>
            </a:r>
          </a:p>
          <a:p>
            <a:pPr algn="ctr" rtl="true">
              <a:lnSpc>
                <a:spcPts val="4074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0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3087163" y="1374331"/>
            <a:ext cx="6610492" cy="4720807"/>
          </a:xfrm>
          <a:custGeom>
            <a:avLst/>
            <a:gdLst/>
            <a:ahLst/>
            <a:cxnLst/>
            <a:rect r="r" b="b" t="t" l="l"/>
            <a:pathLst>
              <a:path h="4720807" w="6610492">
                <a:moveTo>
                  <a:pt x="0" y="0"/>
                </a:moveTo>
                <a:lnTo>
                  <a:pt x="6610492" y="0"/>
                </a:lnTo>
                <a:lnTo>
                  <a:pt x="6610492" y="4720807"/>
                </a:lnTo>
                <a:lnTo>
                  <a:pt x="0" y="47208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90" r="0" b="-79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8695" y="222428"/>
            <a:ext cx="8626269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EDA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8120" y="1354237"/>
            <a:ext cx="3190322" cy="3083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074"/>
              </a:lnSpc>
            </a:pPr>
            <a:r>
              <a:rPr lang="en-US" sz="2910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Analyze fraud rates by job function</a:t>
            </a:r>
            <a:r>
              <a:rPr lang="en-US" sz="2910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 while excluding small categories</a:t>
            </a:r>
          </a:p>
          <a:p>
            <a:pPr algn="ctr" rtl="true">
              <a:lnSpc>
                <a:spcPts val="4074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0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740481" y="2392621"/>
            <a:ext cx="6405988" cy="3821570"/>
          </a:xfrm>
          <a:custGeom>
            <a:avLst/>
            <a:gdLst/>
            <a:ahLst/>
            <a:cxnLst/>
            <a:rect r="r" b="b" t="t" l="l"/>
            <a:pathLst>
              <a:path h="3821570" w="6405988">
                <a:moveTo>
                  <a:pt x="0" y="0"/>
                </a:moveTo>
                <a:lnTo>
                  <a:pt x="6405988" y="0"/>
                </a:lnTo>
                <a:lnTo>
                  <a:pt x="6405988" y="3821570"/>
                </a:lnTo>
                <a:lnTo>
                  <a:pt x="0" y="3821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8695" y="222428"/>
            <a:ext cx="8626269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EDA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40481" y="1149667"/>
            <a:ext cx="7171375" cy="1428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2823"/>
              </a:lnSpc>
            </a:pPr>
            <a:r>
              <a:rPr lang="en-US" sz="2016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Fraudulent postings tend to have shorter text, especially in company profiles. Benefits show almost no differenc</a:t>
            </a:r>
            <a:r>
              <a:rPr lang="en-US" sz="2016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e between real and fraudulent postings</a:t>
            </a:r>
            <a:r>
              <a:rPr lang="ar-EG" sz="2016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  <a:rtl val="true"/>
              </a:rPr>
              <a:t>.</a:t>
            </a:r>
          </a:p>
          <a:p>
            <a:pPr algn="ctr" rtl="true">
              <a:lnSpc>
                <a:spcPts val="2823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0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83394" y="1964213"/>
            <a:ext cx="6534591" cy="4130925"/>
          </a:xfrm>
          <a:custGeom>
            <a:avLst/>
            <a:gdLst/>
            <a:ahLst/>
            <a:cxnLst/>
            <a:rect r="r" b="b" t="t" l="l"/>
            <a:pathLst>
              <a:path h="4130925" w="6534591">
                <a:moveTo>
                  <a:pt x="0" y="0"/>
                </a:moveTo>
                <a:lnTo>
                  <a:pt x="6534592" y="0"/>
                </a:lnTo>
                <a:lnTo>
                  <a:pt x="6534592" y="4130925"/>
                </a:lnTo>
                <a:lnTo>
                  <a:pt x="0" y="41309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8695" y="222428"/>
            <a:ext cx="8626269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EDA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1990" y="1267710"/>
            <a:ext cx="7497401" cy="1524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020"/>
              </a:lnSpc>
            </a:pPr>
            <a:r>
              <a:rPr lang="en-US" sz="2157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Distribution of missing fields for real</a:t>
            </a:r>
            <a:r>
              <a:rPr lang="en-US" sz="2157">
                <a:solidFill>
                  <a:srgbClr val="000000"/>
                </a:solidFill>
                <a:latin typeface="Droid Arabic Kufi"/>
                <a:ea typeface="Droid Arabic Kufi"/>
                <a:cs typeface="Droid Arabic Kufi"/>
                <a:sym typeface="Droid Arabic Kufi"/>
              </a:rPr>
              <a:t> vs fraudulent job postings</a:t>
            </a:r>
          </a:p>
          <a:p>
            <a:pPr algn="ctr" rtl="true">
              <a:lnSpc>
                <a:spcPts val="3020"/>
              </a:lnSpc>
            </a:pPr>
          </a:p>
          <a:p>
            <a:pPr algn="ctr" rtl="true">
              <a:lnSpc>
                <a:spcPts val="3020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3150" y="2076450"/>
            <a:ext cx="8140650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Machine</a:t>
            </a:r>
            <a:r>
              <a:rPr lang="en-US" sz="4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Learning Model &amp; Evaluation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-1060597" y="3638033"/>
            <a:ext cx="4789772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fade/>
  </p:transition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0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>
            <a:off x="542032" y="6264870"/>
            <a:ext cx="8793399" cy="9515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0149" y="289084"/>
            <a:ext cx="5649995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Our Experimen</a:t>
            </a:r>
            <a:r>
              <a:rPr lang="en-US" sz="3200" b="tru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tal Approach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16033" y="1360671"/>
            <a:ext cx="4445397" cy="323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  <a:spcBef>
                <a:spcPct val="0"/>
              </a:spcBef>
            </a:pPr>
            <a:r>
              <a:rPr lang="en-US" b="true" sz="18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Try → Evaluate → Compare → Improve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179750" y="1646384"/>
            <a:ext cx="5403311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8"/>
              </a:lnSpc>
            </a:pPr>
          </a:p>
          <a:p>
            <a:pPr algn="ctr">
              <a:lnSpc>
                <a:spcPts val="2039"/>
              </a:lnSpc>
              <a:spcBef>
                <a:spcPct val="0"/>
              </a:spcBef>
            </a:pPr>
            <a:r>
              <a:rPr lang="en-US" b="true" sz="16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We followed an e</a:t>
            </a:r>
            <a:r>
              <a:rPr lang="en-US" b="true" sz="16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xperimental approach:</a:t>
            </a:r>
          </a:p>
          <a:p>
            <a:pPr algn="ctr">
              <a:lnSpc>
                <a:spcPts val="2038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85800" y="1922882"/>
            <a:ext cx="7888587" cy="1729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3"/>
              </a:lnSpc>
            </a:pPr>
          </a:p>
          <a:p>
            <a:pPr algn="l" marL="362721" indent="-181361" lvl="1">
              <a:lnSpc>
                <a:spcPts val="2016"/>
              </a:lnSpc>
              <a:buAutoNum type="arabicPeriod" startAt="1"/>
            </a:pPr>
            <a:r>
              <a:rPr lang="en-US" sz="168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Prepare the data and create meaningful features.</a:t>
            </a:r>
          </a:p>
          <a:p>
            <a:pPr algn="l" marL="362721" indent="-181361" lvl="1">
              <a:lnSpc>
                <a:spcPts val="2016"/>
              </a:lnSpc>
              <a:buAutoNum type="arabicPeriod" startAt="1"/>
            </a:pPr>
            <a:r>
              <a:rPr lang="en-US" sz="168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Apply the same preprocessing pipeline to ensure a fair comparison.</a:t>
            </a:r>
          </a:p>
          <a:p>
            <a:pPr algn="l" marL="362721" indent="-181361" lvl="1">
              <a:lnSpc>
                <a:spcPts val="2016"/>
              </a:lnSpc>
              <a:buAutoNum type="arabicPeriod" startAt="1"/>
            </a:pPr>
            <a:r>
              <a:rPr lang="en-US" sz="168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Try different ML models and hyperparameters.</a:t>
            </a:r>
          </a:p>
          <a:p>
            <a:pPr algn="l" marL="362721" indent="-181361" lvl="1">
              <a:lnSpc>
                <a:spcPts val="2016"/>
              </a:lnSpc>
              <a:buAutoNum type="arabicPeriod" startAt="1"/>
            </a:pPr>
            <a:r>
              <a:rPr lang="en-US" sz="168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Evaluate their performance using multiple metrics.</a:t>
            </a:r>
          </a:p>
          <a:p>
            <a:pPr algn="l" marL="362721" indent="-181361" lvl="1">
              <a:lnSpc>
                <a:spcPts val="2016"/>
              </a:lnSpc>
              <a:buAutoNum type="arabicPeriod" startAt="1"/>
            </a:pPr>
            <a:r>
              <a:rPr lang="en-US" sz="168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Compare the results and identify the strongest approach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60149" y="4300521"/>
            <a:ext cx="5182372" cy="75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Find the model that best detects fraudulent job postings.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</a:p>
          <a:p>
            <a:pPr algn="ctr">
              <a:lnSpc>
                <a:spcPts val="191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42032" y="3919554"/>
            <a:ext cx="1066701" cy="295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39"/>
              </a:lnSpc>
              <a:spcBef>
                <a:spcPct val="0"/>
              </a:spcBef>
            </a:pPr>
            <a:r>
              <a:rPr lang="en-US" b="true" sz="1698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Main goal: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2595" y="4820747"/>
            <a:ext cx="1161256" cy="295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39"/>
              </a:lnSpc>
              <a:spcBef>
                <a:spcPct val="0"/>
              </a:spcBef>
            </a:pPr>
            <a:r>
              <a:rPr lang="en-US" b="true" sz="1698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Evaluation: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42032" y="5201715"/>
            <a:ext cx="3687564" cy="276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19"/>
              </a:lnSpc>
              <a:spcBef>
                <a:spcPct val="0"/>
              </a:spcBef>
            </a:pPr>
            <a:r>
              <a:rPr lang="en-US" sz="1598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Precision | Recall | F1-score | ROC-AUC</a:t>
            </a:r>
          </a:p>
        </p:txBody>
      </p:sp>
    </p:spTree>
  </p:cSld>
  <p:clrMapOvr>
    <a:masterClrMapping/>
  </p:clrMapOvr>
  <p:transition spd="fast">
    <p:fade/>
  </p:transition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30101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>
            <a:off x="603972" y="6204676"/>
            <a:ext cx="8793399" cy="9515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616418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22438" y="3047962"/>
            <a:ext cx="7922535" cy="1790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Categorical Features</a:t>
            </a:r>
          </a:p>
          <a:p>
            <a:pPr algn="l" marL="409991" indent="-204995" lvl="1">
              <a:lnSpc>
                <a:spcPts val="2278"/>
              </a:lnSpc>
              <a:spcBef>
                <a:spcPct val="0"/>
              </a:spcBef>
              <a:buFont typeface="Arial"/>
              <a:buChar char="•"/>
            </a:pPr>
            <a:r>
              <a:rPr lang="en-US" sz="18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employment_type</a:t>
            </a:r>
          </a:p>
          <a:p>
            <a:pPr algn="l" marL="409991" indent="-204995" lvl="1">
              <a:lnSpc>
                <a:spcPts val="2278"/>
              </a:lnSpc>
              <a:spcBef>
                <a:spcPct val="0"/>
              </a:spcBef>
              <a:buFont typeface="Arial"/>
              <a:buChar char="•"/>
            </a:pPr>
            <a:r>
              <a:rPr lang="en-US" sz="18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required_experience</a:t>
            </a:r>
          </a:p>
          <a:p>
            <a:pPr algn="l" marL="409991" indent="-204995" lvl="1">
              <a:lnSpc>
                <a:spcPts val="2278"/>
              </a:lnSpc>
              <a:spcBef>
                <a:spcPct val="0"/>
              </a:spcBef>
              <a:buFont typeface="Arial"/>
              <a:buChar char="•"/>
            </a:pPr>
            <a:r>
              <a:rPr lang="en-US" sz="18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required_education</a:t>
            </a:r>
          </a:p>
          <a:p>
            <a:pPr algn="l" marL="409991" indent="-204995" lvl="1">
              <a:lnSpc>
                <a:spcPts val="2278"/>
              </a:lnSpc>
              <a:spcBef>
                <a:spcPct val="0"/>
              </a:spcBef>
              <a:buFont typeface="Arial"/>
              <a:buChar char="•"/>
            </a:pPr>
            <a:r>
              <a:rPr lang="en-US" sz="18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industry</a:t>
            </a:r>
          </a:p>
          <a:p>
            <a:pPr algn="l" marL="409991" indent="-204995" lvl="1">
              <a:lnSpc>
                <a:spcPts val="2279"/>
              </a:lnSpc>
              <a:buFont typeface="Arial"/>
              <a:buChar char="•"/>
            </a:pPr>
            <a:r>
              <a:rPr lang="en-US" sz="18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function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22438" y="5100197"/>
            <a:ext cx="8144373" cy="6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9"/>
              </a:lnSpc>
              <a:spcBef>
                <a:spcPct val="0"/>
              </a:spcBef>
            </a:pPr>
            <a:r>
              <a:rPr lang="en-US" b="true" sz="2098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Numerical Features</a:t>
            </a:r>
          </a:p>
          <a:p>
            <a:pPr algn="l" marL="409991" indent="-204995" lvl="1">
              <a:lnSpc>
                <a:spcPts val="2279"/>
              </a:lnSpc>
              <a:buFont typeface="Arial"/>
              <a:buChar char="•"/>
            </a:pPr>
            <a:r>
              <a:rPr lang="en-US" sz="1898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Text length + information availability features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197118"/>
            <a:ext cx="9878997" cy="875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6"/>
              </a:lnSpc>
              <a:spcBef>
                <a:spcPct val="0"/>
              </a:spcBef>
            </a:pPr>
            <a:r>
              <a:rPr lang="en-US" b="true" sz="2696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EX1 — One-Hot Encoding + Numerical F</a:t>
            </a:r>
            <a:r>
              <a:rPr lang="en-US" b="true" sz="2696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eatures</a:t>
            </a:r>
          </a:p>
          <a:p>
            <a:pPr algn="ctr">
              <a:lnSpc>
                <a:spcPts val="3236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32928" y="1898442"/>
            <a:ext cx="2668687" cy="333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b="true" sz="19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1)</a:t>
            </a:r>
            <a:r>
              <a:rPr lang="en-US" b="true" sz="19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Feature Engineering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5800" y="2341510"/>
            <a:ext cx="6421772" cy="649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3"/>
              </a:lnSpc>
              <a:spcBef>
                <a:spcPct val="0"/>
              </a:spcBef>
            </a:pPr>
            <a:r>
              <a:rPr lang="en-US" b="true" sz="2069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Used categorical + numerical features only.</a:t>
            </a:r>
          </a:p>
          <a:p>
            <a:pPr algn="ctr">
              <a:lnSpc>
                <a:spcPts val="2483"/>
              </a:lnSpc>
              <a:spcBef>
                <a:spcPct val="0"/>
              </a:spcBef>
            </a:pPr>
            <a:r>
              <a:rPr lang="en-US" b="true" sz="2069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No text features were used.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30938" y="1250742"/>
            <a:ext cx="701712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  <a:spcBef>
                <a:spcPct val="0"/>
              </a:spcBef>
            </a:pPr>
            <a:r>
              <a:rPr lang="en-US" b="true" sz="21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What if we detect fraud without using text features?</a:t>
            </a:r>
          </a:p>
        </p:txBody>
      </p:sp>
    </p:spTree>
  </p:cSld>
  <p:clrMapOvr>
    <a:masterClrMapping/>
  </p:clrMapOvr>
  <p:transition spd="fast">
    <p:fade/>
  </p:transition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94443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6173" y="2188659"/>
            <a:ext cx="2281634" cy="390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b="true" sz="22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2)P</a:t>
            </a:r>
            <a:r>
              <a:rPr lang="en-US" b="true" sz="22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reprocessing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87710" y="2754358"/>
            <a:ext cx="6094063" cy="1706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9340" indent="-234670" lvl="1">
              <a:lnSpc>
                <a:spcPts val="2608"/>
              </a:lnSpc>
              <a:buFont typeface="Arial"/>
              <a:buChar char="•"/>
            </a:pPr>
            <a:r>
              <a:rPr lang="en-US" b="true" sz="2173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One-Hot Encoding for categorical features.</a:t>
            </a:r>
          </a:p>
          <a:p>
            <a:pPr algn="l" marL="469340" indent="-234670" lvl="1">
              <a:lnSpc>
                <a:spcPts val="2608"/>
              </a:lnSpc>
              <a:buFont typeface="Arial"/>
              <a:buChar char="•"/>
            </a:pPr>
            <a:r>
              <a:rPr lang="en-US" b="true" sz="2173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StandardScaler for numerical features.</a:t>
            </a:r>
          </a:p>
          <a:p>
            <a:pPr algn="l" marL="469340" indent="-234670" lvl="1">
              <a:lnSpc>
                <a:spcPts val="2608"/>
              </a:lnSpc>
              <a:buFont typeface="Arial"/>
              <a:buChar char="•"/>
            </a:pPr>
            <a:r>
              <a:rPr lang="en-US" b="true" sz="2173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Used the same train/test split.</a:t>
            </a:r>
          </a:p>
          <a:p>
            <a:pPr algn="l" marL="469340" indent="-234670" lvl="1">
              <a:lnSpc>
                <a:spcPts val="2608"/>
              </a:lnSpc>
              <a:buFont typeface="Arial"/>
              <a:buChar char="•"/>
            </a:pPr>
            <a:r>
              <a:rPr lang="en-US" b="true" sz="2173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</a:t>
            </a:r>
            <a:r>
              <a:rPr lang="en-US" b="true" sz="2173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sted 6 ML models.</a:t>
            </a:r>
          </a:p>
          <a:p>
            <a:pPr algn="l" marL="469340" indent="-234670" lvl="1">
              <a:lnSpc>
                <a:spcPts val="2608"/>
              </a:lnSpc>
              <a:buFont typeface="Arial"/>
              <a:buChar char="•"/>
            </a:pPr>
            <a:r>
              <a:rPr lang="en-US" b="true" sz="2173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No hyperparameter tuning was applied.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197118"/>
            <a:ext cx="9878997" cy="875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6"/>
              </a:lnSpc>
              <a:spcBef>
                <a:spcPct val="0"/>
              </a:spcBef>
            </a:pPr>
            <a:r>
              <a:rPr lang="en-US" b="true" sz="2696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EX1 — One-Hot Encoding + Numerical F</a:t>
            </a:r>
            <a:r>
              <a:rPr lang="en-US" b="true" sz="2696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eatures</a:t>
            </a:r>
          </a:p>
          <a:p>
            <a:pPr algn="ctr">
              <a:lnSpc>
                <a:spcPts val="3236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600951" y="1286211"/>
            <a:ext cx="6204384" cy="628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b="true" sz="19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Used categorical + numerical features only.</a:t>
            </a:r>
          </a:p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b="true" sz="19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No text features were used.</a:t>
            </a:r>
          </a:p>
        </p:txBody>
      </p:sp>
    </p:spTree>
  </p:cSld>
  <p:clrMapOvr>
    <a:masterClrMapping/>
  </p:clrMapOvr>
  <p:transition spd="fast">
    <p:fade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953" y="-225318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560149" y="3354202"/>
            <a:ext cx="8567717" cy="2592446"/>
          </a:xfrm>
          <a:custGeom>
            <a:avLst/>
            <a:gdLst/>
            <a:ahLst/>
            <a:cxnLst/>
            <a:rect r="r" b="b" t="t" l="l"/>
            <a:pathLst>
              <a:path h="2592446" w="8567717">
                <a:moveTo>
                  <a:pt x="0" y="0"/>
                </a:moveTo>
                <a:lnTo>
                  <a:pt x="8567716" y="0"/>
                </a:lnTo>
                <a:lnTo>
                  <a:pt x="8567716" y="2592446"/>
                </a:lnTo>
                <a:lnTo>
                  <a:pt x="0" y="2592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403" y="125648"/>
            <a:ext cx="9878997" cy="875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6"/>
              </a:lnSpc>
              <a:spcBef>
                <a:spcPct val="0"/>
              </a:spcBef>
            </a:pPr>
            <a:r>
              <a:rPr lang="en-US" b="true" sz="2696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EX1 — One-Hot Encoding + Numerical F</a:t>
            </a:r>
            <a:r>
              <a:rPr lang="en-US" b="true" sz="2696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eatures</a:t>
            </a:r>
          </a:p>
          <a:p>
            <a:pPr algn="ctr">
              <a:lnSpc>
                <a:spcPts val="3236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8403" y="1291226"/>
            <a:ext cx="9698098" cy="1809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b="true" sz="19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Best Models:</a:t>
            </a:r>
            <a:r>
              <a:rPr lang="en-US" sz="19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1998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Best F1 </a:t>
            </a:r>
            <a:r>
              <a:rPr lang="en-US" sz="19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— Random Forest (0.754). </a:t>
            </a:r>
            <a:r>
              <a:rPr lang="en-US" sz="1998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Best Recall</a:t>
            </a:r>
            <a:r>
              <a:rPr lang="en-US" sz="19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— Logistic Regression (0.809). </a:t>
            </a:r>
            <a:r>
              <a:rPr lang="en-US" sz="1998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Best Precision </a:t>
            </a:r>
            <a:r>
              <a:rPr lang="en-US" sz="19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— Random Forest (0.964). </a:t>
            </a:r>
            <a:r>
              <a:rPr lang="en-US" sz="1998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Best ROC-AUC</a:t>
            </a:r>
            <a:r>
              <a:rPr lang="en-US" sz="19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— Random Forest (0.956).</a:t>
            </a:r>
          </a:p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b="true" sz="19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Conclusion: </a:t>
            </a:r>
            <a:r>
              <a:rPr lang="en-US" sz="1998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Random Forest gave the strongest overall performance, with F1 = 0.754</a:t>
            </a:r>
            <a:r>
              <a:rPr lang="en-US" sz="19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and Precision = 0.964. Logistic Regression achieved the highest Recall (0.809), but its low Precision reduced its F1-score.</a:t>
            </a:r>
          </a:p>
        </p:txBody>
      </p:sp>
    </p:spTree>
  </p:cSld>
  <p:clrMapOvr>
    <a:masterClrMapping/>
  </p:clrMapOvr>
  <p:transition spd="fast">
    <p:fade/>
  </p:transition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69650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8037" y="1084793"/>
            <a:ext cx="9055510" cy="130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</a:p>
          <a:p>
            <a:pPr algn="ctr">
              <a:lnSpc>
                <a:spcPts val="2518"/>
              </a:lnSpc>
              <a:spcBef>
                <a:spcPct val="0"/>
              </a:spcBef>
            </a:pPr>
            <a:r>
              <a:rPr lang="en-US" b="true" sz="20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What if</a:t>
            </a:r>
            <a:r>
              <a:rPr lang="en-US" b="true" sz="20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we keep the same features but change the categorical encoding method?</a:t>
            </a:r>
          </a:p>
          <a:p>
            <a:pPr algn="ctr">
              <a:lnSpc>
                <a:spcPts val="251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3860" y="219417"/>
            <a:ext cx="9878997" cy="875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6"/>
              </a:lnSpc>
              <a:spcBef>
                <a:spcPct val="0"/>
              </a:spcBef>
            </a:pPr>
            <a:r>
              <a:rPr lang="en-US" b="true" sz="2696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EX2 — Ordinal Encoding + Numerical F</a:t>
            </a:r>
            <a:r>
              <a:rPr lang="en-US" b="true" sz="2696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eatures</a:t>
            </a:r>
          </a:p>
          <a:p>
            <a:pPr algn="ctr">
              <a:lnSpc>
                <a:spcPts val="3236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85800" y="2456373"/>
            <a:ext cx="2668687" cy="333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b="true" sz="19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1)</a:t>
            </a:r>
            <a:r>
              <a:rPr lang="en-US" b="true" sz="19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Feature Engineering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18848" y="3135888"/>
            <a:ext cx="7313967" cy="923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580" indent="-215790" lvl="1">
              <a:lnSpc>
                <a:spcPts val="2399"/>
              </a:lnSpc>
              <a:buFont typeface="Arial"/>
              <a:buChar char="•"/>
            </a:pPr>
            <a:r>
              <a:rPr lang="en-US" b="true" sz="19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Used the same categorical + numerical features as EX1.</a:t>
            </a:r>
          </a:p>
          <a:p>
            <a:pPr algn="l" marL="431580" indent="-215790" lvl="1">
              <a:lnSpc>
                <a:spcPts val="2399"/>
              </a:lnSpc>
              <a:buFont typeface="Arial"/>
              <a:buChar char="•"/>
            </a:pPr>
            <a:r>
              <a:rPr lang="en-US" b="true" sz="19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No text features were used.</a:t>
            </a:r>
          </a:p>
          <a:p>
            <a:pPr algn="l" marL="431580" indent="-215790" lvl="1">
              <a:lnSpc>
                <a:spcPts val="2399"/>
              </a:lnSpc>
              <a:buFont typeface="Arial"/>
              <a:buChar char="•"/>
            </a:pPr>
            <a:r>
              <a:rPr lang="en-US" b="true" sz="19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 only change was the categorical encoding method.</a:t>
            </a:r>
          </a:p>
        </p:txBody>
      </p:sp>
    </p:spTree>
  </p:cSld>
  <p:clrMapOvr>
    <a:masterClrMapping/>
  </p:clrMapOvr>
  <p:transition spd="fast">
    <p:fade/>
  </p:transition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94443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5800" y="2360087"/>
            <a:ext cx="2281634" cy="390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b="true" sz="22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2)P</a:t>
            </a:r>
            <a:r>
              <a:rPr lang="en-US" b="true" sz="22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reprocessing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87710" y="2976613"/>
            <a:ext cx="5971084" cy="1676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9340" indent="-234670" lvl="1">
              <a:lnSpc>
                <a:spcPts val="2608"/>
              </a:lnSpc>
              <a:buFont typeface="Arial"/>
              <a:buChar char="•"/>
            </a:pPr>
            <a:r>
              <a:rPr lang="en-US" b="true" sz="2173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Ordinal Encoding for categorical features</a:t>
            </a:r>
            <a:r>
              <a:rPr lang="en-US" b="true" sz="2173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.</a:t>
            </a:r>
          </a:p>
          <a:p>
            <a:pPr algn="l" marL="469340" indent="-234670" lvl="1">
              <a:lnSpc>
                <a:spcPts val="2608"/>
              </a:lnSpc>
              <a:buFont typeface="Arial"/>
              <a:buChar char="•"/>
            </a:pPr>
            <a:r>
              <a:rPr lang="en-US" b="true" sz="2173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StandardScaler for numerical features.</a:t>
            </a:r>
          </a:p>
          <a:p>
            <a:pPr algn="l" marL="469340" indent="-234670" lvl="1">
              <a:lnSpc>
                <a:spcPts val="2608"/>
              </a:lnSpc>
              <a:buFont typeface="Arial"/>
              <a:buChar char="•"/>
            </a:pPr>
            <a:r>
              <a:rPr lang="en-US" b="true" sz="2173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Used the same train/test split.</a:t>
            </a:r>
          </a:p>
          <a:p>
            <a:pPr algn="l" marL="469340" indent="-234670" lvl="1">
              <a:lnSpc>
                <a:spcPts val="2608"/>
              </a:lnSpc>
              <a:buFont typeface="Arial"/>
              <a:buChar char="•"/>
            </a:pPr>
            <a:r>
              <a:rPr lang="en-US" b="true" sz="2173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</a:t>
            </a:r>
            <a:r>
              <a:rPr lang="en-US" b="true" sz="2173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sted the same 6 ML models.</a:t>
            </a:r>
          </a:p>
          <a:p>
            <a:pPr algn="l" marL="469340" indent="-234670" lvl="1">
              <a:lnSpc>
                <a:spcPts val="2608"/>
              </a:lnSpc>
              <a:buFont typeface="Arial"/>
              <a:buChar char="•"/>
            </a:pPr>
            <a:r>
              <a:rPr lang="en-US" b="true" sz="2173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No hyperparameter tuning was applied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860" y="220096"/>
            <a:ext cx="9878997" cy="875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6"/>
              </a:lnSpc>
              <a:spcBef>
                <a:spcPct val="0"/>
              </a:spcBef>
            </a:pPr>
            <a:r>
              <a:rPr lang="en-US" b="true" sz="2696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EX2 — Ordinal Encoding + Numerical F</a:t>
            </a:r>
            <a:r>
              <a:rPr lang="en-US" b="true" sz="2696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eatures</a:t>
            </a:r>
          </a:p>
          <a:p>
            <a:pPr algn="ctr">
              <a:lnSpc>
                <a:spcPts val="3236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15720" y="1102807"/>
            <a:ext cx="9055510" cy="130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</a:p>
          <a:p>
            <a:pPr algn="ctr">
              <a:lnSpc>
                <a:spcPts val="2518"/>
              </a:lnSpc>
              <a:spcBef>
                <a:spcPct val="0"/>
              </a:spcBef>
            </a:pPr>
            <a:r>
              <a:rPr lang="en-US" b="true" sz="20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What if</a:t>
            </a:r>
            <a:r>
              <a:rPr lang="en-US" b="true" sz="20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we keep the same features but change the categorical encoding method?</a:t>
            </a:r>
          </a:p>
          <a:p>
            <a:pPr algn="ctr">
              <a:lnSpc>
                <a:spcPts val="251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953" y="-225318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578653" y="2999913"/>
            <a:ext cx="8934404" cy="2726838"/>
          </a:xfrm>
          <a:custGeom>
            <a:avLst/>
            <a:gdLst/>
            <a:ahLst/>
            <a:cxnLst/>
            <a:rect r="r" b="b" t="t" l="l"/>
            <a:pathLst>
              <a:path h="2726838" w="8934404">
                <a:moveTo>
                  <a:pt x="0" y="0"/>
                </a:moveTo>
                <a:lnTo>
                  <a:pt x="8934403" y="0"/>
                </a:lnTo>
                <a:lnTo>
                  <a:pt x="8934403" y="2726837"/>
                </a:lnTo>
                <a:lnTo>
                  <a:pt x="0" y="27268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907" y="316178"/>
            <a:ext cx="9878997" cy="466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6"/>
              </a:lnSpc>
              <a:spcBef>
                <a:spcPct val="0"/>
              </a:spcBef>
            </a:pPr>
            <a:r>
              <a:rPr lang="en-US" b="true" sz="2696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EX2 — Ordinal Encoding + Numerical F</a:t>
            </a:r>
            <a:r>
              <a:rPr lang="en-US" b="true" sz="2696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eatures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4759" y="1190201"/>
            <a:ext cx="9682191" cy="1809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580" indent="-215790" lvl="1">
              <a:lnSpc>
                <a:spcPts val="2399"/>
              </a:lnSpc>
              <a:buFont typeface="Arial"/>
              <a:buChar char="•"/>
            </a:pPr>
            <a:r>
              <a:rPr lang="en-US" b="true" sz="19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Best Models: </a:t>
            </a:r>
            <a:r>
              <a:rPr lang="en-US" sz="1998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Best F1 </a:t>
            </a:r>
            <a:r>
              <a:rPr lang="en-US" sz="19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— Random Forest (0.728). </a:t>
            </a:r>
            <a:r>
              <a:rPr lang="en-US" sz="1998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Best Recall </a:t>
            </a:r>
            <a:r>
              <a:rPr lang="en-US" sz="19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— Decision Tree (0.647). </a:t>
            </a:r>
            <a:r>
              <a:rPr lang="en-US" sz="1998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Best Precision </a:t>
            </a:r>
            <a:r>
              <a:rPr lang="en-US" sz="19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— Random Forest (0.936). </a:t>
            </a:r>
            <a:r>
              <a:rPr lang="en-US" sz="1998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Best ROC-AUC</a:t>
            </a:r>
            <a:r>
              <a:rPr lang="en-US" sz="19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— XGBoost (0.963).</a:t>
            </a:r>
          </a:p>
          <a:p>
            <a:pPr algn="l" marL="431580" indent="-215790" lvl="1">
              <a:lnSpc>
                <a:spcPts val="2399"/>
              </a:lnSpc>
              <a:buFont typeface="Arial"/>
              <a:buChar char="•"/>
            </a:pPr>
            <a:r>
              <a:rPr lang="en-US" b="true" sz="19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Conclusion: </a:t>
            </a:r>
            <a:r>
              <a:rPr lang="en-US" sz="1998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Random Forest remained best, but F1 dropped from 0.754 (One-Hot) to 0.728 (Ordinal)</a:t>
            </a:r>
            <a:r>
              <a:rPr lang="en-US" sz="19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; linear models degraded considerably. One-Hot Encoding is preferred; Ordinal is kept only as a comparison.</a:t>
            </a:r>
          </a:p>
        </p:txBody>
      </p:sp>
    </p:spTree>
  </p:cSld>
  <p:clrMapOvr>
    <a:masterClrMapping/>
  </p:clrMapOvr>
  <p:transition spd="fast">
    <p:fade/>
  </p:transition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344378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341852" y="891015"/>
            <a:ext cx="4388170" cy="36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20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</a:t>
            </a:r>
            <a:r>
              <a:rPr lang="en-US" b="true" sz="20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rom Raw Data to Model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82819" y="1782190"/>
            <a:ext cx="7770728" cy="628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Text Features</a:t>
            </a:r>
          </a:p>
          <a:p>
            <a:pPr algn="l" marL="388401" indent="-194201" lvl="1">
              <a:lnSpc>
                <a:spcPts val="2159"/>
              </a:lnSpc>
              <a:spcBef>
                <a:spcPct val="0"/>
              </a:spcBef>
              <a:buFont typeface="Arial"/>
              <a:buChar char="•"/>
            </a:pPr>
            <a:r>
              <a:rPr lang="en-US" sz="17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job_context :- title + industry + function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82819" y="2772773"/>
            <a:ext cx="7922535" cy="1790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Categorical Features</a:t>
            </a:r>
          </a:p>
          <a:p>
            <a:pPr algn="l" marL="409991" indent="-204995" lvl="1">
              <a:lnSpc>
                <a:spcPts val="2278"/>
              </a:lnSpc>
              <a:spcBef>
                <a:spcPct val="0"/>
              </a:spcBef>
              <a:buFont typeface="Arial"/>
              <a:buChar char="•"/>
            </a:pPr>
            <a:r>
              <a:rPr lang="en-US" sz="18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employment_type</a:t>
            </a:r>
          </a:p>
          <a:p>
            <a:pPr algn="l" marL="409991" indent="-204995" lvl="1">
              <a:lnSpc>
                <a:spcPts val="2278"/>
              </a:lnSpc>
              <a:spcBef>
                <a:spcPct val="0"/>
              </a:spcBef>
              <a:buFont typeface="Arial"/>
              <a:buChar char="•"/>
            </a:pPr>
            <a:r>
              <a:rPr lang="en-US" sz="18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required_experience</a:t>
            </a:r>
          </a:p>
          <a:p>
            <a:pPr algn="l" marL="409991" indent="-204995" lvl="1">
              <a:lnSpc>
                <a:spcPts val="2278"/>
              </a:lnSpc>
              <a:spcBef>
                <a:spcPct val="0"/>
              </a:spcBef>
              <a:buFont typeface="Arial"/>
              <a:buChar char="•"/>
            </a:pPr>
            <a:r>
              <a:rPr lang="en-US" sz="18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required_education</a:t>
            </a:r>
          </a:p>
          <a:p>
            <a:pPr algn="l" marL="409991" indent="-204995" lvl="1">
              <a:lnSpc>
                <a:spcPts val="2278"/>
              </a:lnSpc>
              <a:spcBef>
                <a:spcPct val="0"/>
              </a:spcBef>
              <a:buFont typeface="Arial"/>
              <a:buChar char="•"/>
            </a:pPr>
            <a:r>
              <a:rPr lang="en-US" sz="18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industry</a:t>
            </a:r>
          </a:p>
          <a:p>
            <a:pPr algn="l" marL="409991" indent="-204995" lvl="1">
              <a:lnSpc>
                <a:spcPts val="2279"/>
              </a:lnSpc>
              <a:buFont typeface="Arial"/>
              <a:buChar char="•"/>
            </a:pPr>
            <a:r>
              <a:rPr lang="en-US" sz="189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function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79882" y="5034040"/>
            <a:ext cx="8144373" cy="64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9"/>
              </a:lnSpc>
              <a:spcBef>
                <a:spcPct val="0"/>
              </a:spcBef>
            </a:pPr>
            <a:r>
              <a:rPr lang="en-US" b="true" sz="2098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Numerical Features</a:t>
            </a:r>
          </a:p>
          <a:p>
            <a:pPr algn="l" marL="409991" indent="-204995" lvl="1">
              <a:lnSpc>
                <a:spcPts val="2279"/>
              </a:lnSpc>
              <a:buFont typeface="Arial"/>
              <a:buChar char="•"/>
            </a:pPr>
            <a:r>
              <a:rPr lang="en-US" sz="1898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Text length + information availability features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158234"/>
            <a:ext cx="9878997" cy="875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6"/>
              </a:lnSpc>
              <a:spcBef>
                <a:spcPct val="0"/>
              </a:spcBef>
            </a:pPr>
            <a:r>
              <a:rPr lang="en-US" b="true" sz="2696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EX3 — Classical Machine L</a:t>
            </a:r>
            <a:r>
              <a:rPr lang="en-US" b="true" sz="2696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earning</a:t>
            </a:r>
          </a:p>
          <a:p>
            <a:pPr algn="ctr">
              <a:lnSpc>
                <a:spcPts val="3236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73585" y="1357700"/>
            <a:ext cx="2668687" cy="333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b="true" sz="19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1)</a:t>
            </a:r>
            <a:r>
              <a:rPr lang="en-US" b="true" sz="19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Feature Engineering</a:t>
            </a:r>
          </a:p>
        </p:txBody>
      </p:sp>
    </p:spTree>
  </p:cSld>
  <p:clrMapOvr>
    <a:masterClrMapping/>
  </p:clrMapOvr>
  <p:transition spd="fast">
    <p:fade/>
  </p:transition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94443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177095" y="1155250"/>
            <a:ext cx="4388170" cy="36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20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</a:t>
            </a:r>
            <a:r>
              <a:rPr lang="en-US" b="true" sz="20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rom Raw Data to Model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177095" y="219417"/>
            <a:ext cx="9878997" cy="466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6"/>
              </a:lnSpc>
              <a:spcBef>
                <a:spcPct val="0"/>
              </a:spcBef>
            </a:pPr>
            <a:r>
              <a:rPr lang="en-US" b="true" sz="2696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EX3 — Classical Machine L</a:t>
            </a:r>
            <a:r>
              <a:rPr lang="en-US" b="true" sz="2696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earning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6173" y="1986610"/>
            <a:ext cx="2281634" cy="390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b="true" sz="22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2)P</a:t>
            </a:r>
            <a:r>
              <a:rPr lang="en-US" b="true" sz="22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reprocessing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2586" y="2529491"/>
            <a:ext cx="8570961" cy="2375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234" indent="-237117" lvl="1">
              <a:lnSpc>
                <a:spcPts val="2636"/>
              </a:lnSpc>
              <a:buFont typeface="Arial"/>
              <a:buChar char="•"/>
            </a:pPr>
            <a:r>
              <a:rPr lang="en-US" b="true" sz="2196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TF-IDF for text features.</a:t>
            </a:r>
          </a:p>
          <a:p>
            <a:pPr algn="l" marL="474234" indent="-237117" lvl="1">
              <a:lnSpc>
                <a:spcPts val="2636"/>
              </a:lnSpc>
              <a:buFont typeface="Arial"/>
              <a:buChar char="•"/>
            </a:pPr>
            <a:r>
              <a:rPr lang="en-US" b="true" sz="2196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One-Hot Encoding for categorical features.</a:t>
            </a:r>
          </a:p>
          <a:p>
            <a:pPr algn="l" marL="474234" indent="-237117" lvl="1">
              <a:lnSpc>
                <a:spcPts val="2635"/>
              </a:lnSpc>
              <a:buFont typeface="Arial"/>
              <a:buChar char="•"/>
            </a:pPr>
            <a:r>
              <a:rPr lang="en-US" b="true" sz="2196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StandardScaler for numerical features.</a:t>
            </a:r>
          </a:p>
          <a:p>
            <a:pPr algn="l" marL="474234" indent="-237117" lvl="1">
              <a:lnSpc>
                <a:spcPts val="2636"/>
              </a:lnSpc>
              <a:buFont typeface="Arial"/>
              <a:buChar char="•"/>
            </a:pPr>
            <a:r>
              <a:rPr lang="en-US" b="true" sz="2196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Applied MINMAX to numerical features at Complement Naive Bayes</a:t>
            </a:r>
          </a:p>
          <a:p>
            <a:pPr algn="l" marL="474234" indent="-237117" lvl="1">
              <a:lnSpc>
                <a:spcPts val="2636"/>
              </a:lnSpc>
              <a:buFont typeface="Arial"/>
              <a:buChar char="•"/>
            </a:pPr>
            <a:r>
              <a:rPr lang="en-US" b="true" sz="2196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Used class weights to handle class imbalance.</a:t>
            </a:r>
          </a:p>
          <a:p>
            <a:pPr algn="l" marL="474234" indent="-237117" lvl="1">
              <a:lnSpc>
                <a:spcPts val="2636"/>
              </a:lnSpc>
              <a:buFont typeface="Arial"/>
              <a:buChar char="•"/>
            </a:pPr>
            <a:r>
              <a:rPr lang="en-US" b="true" sz="2196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Applied GridSearchCV to tune the model</a:t>
            </a:r>
          </a:p>
        </p:txBody>
      </p:sp>
    </p:spTree>
  </p:cSld>
  <p:clrMapOvr>
    <a:masterClrMapping/>
  </p:clrMapOvr>
  <p:transition spd="fast">
    <p:fade/>
  </p:transition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814" y="-211226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177095" y="1200615"/>
            <a:ext cx="4388170" cy="36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20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</a:t>
            </a:r>
            <a:r>
              <a:rPr lang="en-US" b="true" sz="20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rom Raw Data to Model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90449" y="219404"/>
            <a:ext cx="9878997" cy="466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6"/>
              </a:lnSpc>
              <a:spcBef>
                <a:spcPct val="0"/>
              </a:spcBef>
            </a:pPr>
            <a:r>
              <a:rPr lang="en-US" b="true" sz="2696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EX3 — Classical Machine L</a:t>
            </a:r>
            <a:r>
              <a:rPr lang="en-US" b="true" sz="2696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earning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8403" y="3766851"/>
            <a:ext cx="9690144" cy="1735016"/>
          </a:xfrm>
          <a:custGeom>
            <a:avLst/>
            <a:gdLst/>
            <a:ahLst/>
            <a:cxnLst/>
            <a:rect r="r" b="b" t="t" l="l"/>
            <a:pathLst>
              <a:path h="1735016" w="9690144">
                <a:moveTo>
                  <a:pt x="0" y="0"/>
                </a:moveTo>
                <a:lnTo>
                  <a:pt x="9690144" y="0"/>
                </a:lnTo>
                <a:lnTo>
                  <a:pt x="9690144" y="1735016"/>
                </a:lnTo>
                <a:lnTo>
                  <a:pt x="0" y="17350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217" r="-4789" b="-5217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9332" y="1629200"/>
            <a:ext cx="9448286" cy="1628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9685" indent="-194843" lvl="1">
              <a:lnSpc>
                <a:spcPts val="2165"/>
              </a:lnSpc>
              <a:buFont typeface="Arial"/>
              <a:buChar char="•"/>
            </a:pPr>
            <a:r>
              <a:rPr lang="en-US" b="true" sz="1804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EX1 Best Models:</a:t>
            </a:r>
            <a:r>
              <a:rPr lang="en-US" sz="1804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 Best F1</a:t>
            </a:r>
            <a:r>
              <a:rPr lang="en-US" sz="180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— Logistic Regression (0.720). </a:t>
            </a:r>
            <a:r>
              <a:rPr lang="en-US" sz="1804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Best Recall</a:t>
            </a:r>
            <a:r>
              <a:rPr lang="en-US" sz="180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— Linear SVC (0.769). </a:t>
            </a:r>
            <a:r>
              <a:rPr lang="en-US" sz="1804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Best Precision </a:t>
            </a:r>
            <a:r>
              <a:rPr lang="en-US" sz="180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— Random Forest (0.990). </a:t>
            </a:r>
            <a:r>
              <a:rPr lang="en-US" sz="1804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Best ROC-AUC</a:t>
            </a:r>
            <a:r>
              <a:rPr lang="en-US" sz="180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— Random Forest (0.975)</a:t>
            </a:r>
          </a:p>
          <a:p>
            <a:pPr algn="ctr">
              <a:lnSpc>
                <a:spcPts val="2045"/>
              </a:lnSpc>
              <a:spcBef>
                <a:spcPct val="0"/>
              </a:spcBef>
            </a:pPr>
          </a:p>
          <a:p>
            <a:pPr algn="l" marL="389685" indent="-194843" lvl="1">
              <a:lnSpc>
                <a:spcPts val="2166"/>
              </a:lnSpc>
              <a:buFont typeface="Arial"/>
              <a:buChar char="•"/>
            </a:pPr>
            <a:r>
              <a:rPr lang="en-US" b="true" sz="1804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Conclusion:</a:t>
            </a:r>
            <a:r>
              <a:rPr lang="en-US" sz="180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1804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Logistic Regression achieved the highest F1-score (0.720),</a:t>
            </a:r>
            <a:r>
              <a:rPr lang="en-US" sz="180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providing the best overall F1 performance in EX1.</a:t>
            </a:r>
          </a:p>
        </p:txBody>
      </p:sp>
    </p:spTree>
  </p:cSld>
  <p:clrMapOvr>
    <a:masterClrMapping/>
  </p:clrMapOvr>
  <p:transition spd="fast">
    <p:fade/>
  </p:transition>
</p:sld>
</file>

<file path=ppt/slides/slide3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953" y="-135671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2595" y="860437"/>
            <a:ext cx="8796804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2518"/>
              </a:lnSpc>
              <a:spcBef>
                <a:spcPct val="0"/>
              </a:spcBef>
            </a:pPr>
            <a:r>
              <a:rPr lang="en-US" b="true" sz="2098" strike="noStrike" u="none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What if we rely more on the actual content of the job posting and remove the categorical information?</a:t>
            </a:r>
          </a:p>
          <a:p>
            <a:pPr algn="ctr" marL="0" indent="0" lvl="0">
              <a:lnSpc>
                <a:spcPts val="2518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546529" y="3318974"/>
            <a:ext cx="5475288" cy="838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  <a:spcBef>
                <a:spcPct val="0"/>
              </a:spcBef>
            </a:pPr>
            <a:r>
              <a:rPr lang="en-US" b="true" sz="1798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Text Features</a:t>
            </a:r>
          </a:p>
          <a:p>
            <a:pPr algn="l" marL="388401" indent="-194201" lvl="1">
              <a:lnSpc>
                <a:spcPts val="2159"/>
              </a:lnSpc>
              <a:spcBef>
                <a:spcPct val="0"/>
              </a:spcBef>
              <a:buFont typeface="Arial"/>
              <a:buChar char="•"/>
            </a:pPr>
            <a:r>
              <a:rPr lang="en-US" sz="1798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text_combined {title+description+requirements+benefits}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6529" y="4557190"/>
            <a:ext cx="6310893" cy="609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  <a:spcBef>
                <a:spcPct val="0"/>
              </a:spcBef>
            </a:pPr>
            <a:r>
              <a:rPr lang="en-US" b="true" sz="1898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Numerical Features</a:t>
            </a:r>
          </a:p>
          <a:p>
            <a:pPr algn="l" marL="409991" indent="-204995" lvl="1">
              <a:lnSpc>
                <a:spcPts val="2279"/>
              </a:lnSpc>
              <a:spcBef>
                <a:spcPct val="0"/>
              </a:spcBef>
              <a:buFont typeface="Arial"/>
              <a:buChar char="•"/>
            </a:pPr>
            <a:r>
              <a:rPr lang="en-US" sz="1898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Text length + information availability features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46529" y="252266"/>
            <a:ext cx="6464377" cy="876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8"/>
              </a:lnSpc>
            </a:pPr>
            <a:r>
              <a:rPr lang="en-US" sz="2698" b="true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EX4 — Text + Numerical Features</a:t>
            </a:r>
          </a:p>
          <a:p>
            <a:pPr algn="ctr">
              <a:lnSpc>
                <a:spcPts val="323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560149" y="2052221"/>
            <a:ext cx="2668687" cy="333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b="true" sz="19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1)</a:t>
            </a:r>
            <a:r>
              <a:rPr lang="en-US" b="true" sz="19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Feature Engineering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0252" y="2566533"/>
            <a:ext cx="7766447" cy="571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  <a:spcBef>
                <a:spcPct val="0"/>
              </a:spcBef>
            </a:pPr>
            <a:r>
              <a:rPr lang="en-US" b="true" sz="17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Kept numerical features such as text length and information availability.</a:t>
            </a:r>
          </a:p>
          <a:p>
            <a:pPr algn="ctr">
              <a:lnSpc>
                <a:spcPts val="2159"/>
              </a:lnSpc>
              <a:spcBef>
                <a:spcPct val="0"/>
              </a:spcBef>
            </a:pPr>
            <a:r>
              <a:rPr lang="en-US" b="true" sz="17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Removed categorical One-Hot features</a:t>
            </a:r>
          </a:p>
        </p:txBody>
      </p:sp>
    </p:spTree>
  </p:cSld>
  <p:clrMapOvr>
    <a:masterClrMapping/>
  </p:clrMapOvr>
  <p:transition spd="fast">
    <p:fade/>
  </p:transition>
</p:sld>
</file>

<file path=ppt/slides/slide3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953" y="-199493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2595" y="860437"/>
            <a:ext cx="8796804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2518"/>
              </a:lnSpc>
              <a:spcBef>
                <a:spcPct val="0"/>
              </a:spcBef>
            </a:pPr>
            <a:r>
              <a:rPr lang="en-US" b="true" sz="2098" strike="noStrike" u="none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What if we rely more on the actual content of the job posting and remove the categorical information?</a:t>
            </a:r>
          </a:p>
          <a:p>
            <a:pPr algn="ctr" marL="0" indent="0" lvl="0">
              <a:lnSpc>
                <a:spcPts val="2518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546529" y="342004"/>
            <a:ext cx="6464377" cy="876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8"/>
              </a:lnSpc>
            </a:pPr>
            <a:r>
              <a:rPr lang="en-US" sz="2698" b="true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EX4 — Text + Numerical Features</a:t>
            </a:r>
          </a:p>
          <a:p>
            <a:pPr algn="ctr">
              <a:lnSpc>
                <a:spcPts val="323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85800" y="2079625"/>
            <a:ext cx="2281634" cy="390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b="true" sz="22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2)P</a:t>
            </a:r>
            <a:r>
              <a:rPr lang="en-US" b="true" sz="22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reprocessing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2422" y="2632031"/>
            <a:ext cx="9472482" cy="2000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8684" indent="-234342" lvl="1">
              <a:lnSpc>
                <a:spcPts val="2605"/>
              </a:lnSpc>
              <a:buFont typeface="Arial"/>
              <a:buChar char="•"/>
            </a:pPr>
            <a:r>
              <a:rPr lang="en-US" b="true" sz="217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Applied TF-IDF to the combined text.</a:t>
            </a:r>
          </a:p>
          <a:p>
            <a:pPr algn="l" marL="468684" indent="-234342" lvl="1">
              <a:lnSpc>
                <a:spcPts val="2605"/>
              </a:lnSpc>
              <a:buFont typeface="Arial"/>
              <a:buChar char="•"/>
            </a:pPr>
            <a:r>
              <a:rPr lang="en-US" b="true" sz="217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Used 1–2 grams to capture words and short phrases.</a:t>
            </a:r>
          </a:p>
          <a:p>
            <a:pPr algn="l" marL="468684" indent="-234342" lvl="1">
              <a:lnSpc>
                <a:spcPts val="2605"/>
              </a:lnSpc>
              <a:buFont typeface="Arial"/>
              <a:buChar char="•"/>
            </a:pPr>
            <a:r>
              <a:rPr lang="en-US" b="true" sz="217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Applied StandardScaler to numerical features.</a:t>
            </a:r>
          </a:p>
          <a:p>
            <a:pPr algn="l" marL="468684" indent="-234342" lvl="1">
              <a:lnSpc>
                <a:spcPts val="2605"/>
              </a:lnSpc>
              <a:buFont typeface="Arial"/>
              <a:buChar char="•"/>
            </a:pPr>
            <a:r>
              <a:rPr lang="en-US" b="true" sz="217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Applied MINMAX to numerical features at Complement Naive Bayes</a:t>
            </a:r>
          </a:p>
          <a:p>
            <a:pPr algn="l" marL="468684" indent="-234342" lvl="1">
              <a:lnSpc>
                <a:spcPts val="2605"/>
              </a:lnSpc>
              <a:buFont typeface="Arial"/>
              <a:buChar char="•"/>
            </a:pPr>
            <a:r>
              <a:rPr lang="en-US" b="true" sz="217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Used the same train/test split for fair comparison.</a:t>
            </a:r>
          </a:p>
          <a:p>
            <a:pPr algn="l" marL="468684" indent="-234342" lvl="1">
              <a:lnSpc>
                <a:spcPts val="2605"/>
              </a:lnSpc>
              <a:buFont typeface="Arial"/>
              <a:buChar char="•"/>
            </a:pPr>
            <a:r>
              <a:rPr lang="en-US" b="true" sz="217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Trained multiple ML models.</a:t>
            </a:r>
          </a:p>
        </p:txBody>
      </p:sp>
    </p:spTree>
  </p:cSld>
  <p:clrMapOvr>
    <a:masterClrMapping/>
  </p:clrMapOvr>
  <p:transition spd="fast">
    <p:fade/>
  </p:transition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953" y="-350991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7153" y="638175"/>
            <a:ext cx="9530642" cy="130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</a:p>
          <a:p>
            <a:pPr algn="ctr">
              <a:lnSpc>
                <a:spcPts val="2518"/>
              </a:lnSpc>
              <a:spcBef>
                <a:spcPct val="0"/>
              </a:spcBef>
            </a:pPr>
            <a:r>
              <a:rPr lang="en-US" b="true" sz="20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What if we </a:t>
            </a:r>
            <a:r>
              <a:rPr lang="en-US" b="true" sz="20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rely more on the actual content of the job posting and remove the categorical information?</a:t>
            </a:r>
          </a:p>
          <a:p>
            <a:pPr algn="ctr">
              <a:lnSpc>
                <a:spcPts val="251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42224" y="1904980"/>
            <a:ext cx="9675571" cy="135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6951" indent="-188475" lvl="1">
              <a:lnSpc>
                <a:spcPts val="2095"/>
              </a:lnSpc>
              <a:buFont typeface="Arial"/>
              <a:buChar char="•"/>
            </a:pPr>
            <a:r>
              <a:rPr lang="en-US" b="true" sz="1745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EX2 Best Models:</a:t>
            </a:r>
            <a:r>
              <a:rPr lang="en-US" sz="1745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1745" strike="noStrike" u="none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Best F1</a:t>
            </a:r>
            <a:r>
              <a:rPr lang="en-US" sz="1745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— Logistic Regression (0.822). </a:t>
            </a:r>
            <a:r>
              <a:rPr lang="en-US" sz="1745" strike="noStrike" u="none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Best Recall </a:t>
            </a:r>
            <a:r>
              <a:rPr lang="en-US" sz="1745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— Complement Naive Bayes (0.884). </a:t>
            </a:r>
            <a:r>
              <a:rPr lang="en-US" sz="1745" strike="noStrike" u="none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Best Precision</a:t>
            </a:r>
            <a:r>
              <a:rPr lang="en-US" sz="1745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— XGBoost (0.981). </a:t>
            </a:r>
            <a:r>
              <a:rPr lang="en-US" sz="1745" strike="noStrike" u="none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Best ROC-AUC</a:t>
            </a:r>
            <a:r>
              <a:rPr lang="en-US" sz="1745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— Logistic Regression (0.983).</a:t>
            </a:r>
          </a:p>
          <a:p>
            <a:pPr algn="l" marL="376951" indent="-188475" lvl="1">
              <a:lnSpc>
                <a:spcPts val="2095"/>
              </a:lnSpc>
              <a:buFont typeface="Arial"/>
              <a:buChar char="•"/>
            </a:pPr>
            <a:r>
              <a:rPr lang="en-US" b="true" sz="1745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Conclusion:</a:t>
            </a:r>
            <a:r>
              <a:rPr lang="en-US" sz="1745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Logistic Regression achieved the highest F1-score (0.</a:t>
            </a:r>
            <a:r>
              <a:rPr lang="en-US" sz="1745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82</a:t>
            </a:r>
            <a:r>
              <a:rPr lang="en-US" sz="1745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2)</a:t>
            </a:r>
            <a:r>
              <a:rPr lang="en-US" sz="1745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Overall,</a:t>
            </a:r>
            <a:r>
              <a:rPr lang="en-US" sz="1745" strike="noStrike" u="none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 Logistic Regression provided the best bal</a:t>
            </a:r>
            <a:r>
              <a:rPr lang="en-US" sz="1745" strike="noStrike" u="none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ance </a:t>
            </a:r>
            <a:r>
              <a:rPr lang="en-US" sz="1745" strike="noStrike" u="none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between precision and recall </a:t>
            </a:r>
            <a:r>
              <a:rPr lang="en-US" sz="1745" strike="noStrike" u="none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in EX</a:t>
            </a:r>
            <a:r>
              <a:rPr lang="en-US" sz="1745" strike="noStrike" u="none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2</a:t>
            </a:r>
            <a:r>
              <a:rPr lang="en-US" sz="1745" strike="noStrike" u="none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11287" y="190506"/>
            <a:ext cx="6464377" cy="876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8"/>
              </a:lnSpc>
            </a:pPr>
            <a:r>
              <a:rPr lang="en-US" sz="2698" b="true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EX4 — Text + Numerical Features</a:t>
            </a:r>
          </a:p>
          <a:p>
            <a:pPr algn="ctr">
              <a:lnSpc>
                <a:spcPts val="3239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8733" y="3614352"/>
            <a:ext cx="9967481" cy="1836406"/>
          </a:xfrm>
          <a:custGeom>
            <a:avLst/>
            <a:gdLst/>
            <a:ahLst/>
            <a:cxnLst/>
            <a:rect r="r" b="b" t="t" l="l"/>
            <a:pathLst>
              <a:path h="1836406" w="9967481">
                <a:moveTo>
                  <a:pt x="0" y="0"/>
                </a:moveTo>
                <a:lnTo>
                  <a:pt x="9967482" y="0"/>
                </a:lnTo>
                <a:lnTo>
                  <a:pt x="9967482" y="1836406"/>
                </a:lnTo>
                <a:lnTo>
                  <a:pt x="0" y="18364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ransition spd="fast">
    <p:fade/>
  </p:transition>
</p:sld>
</file>

<file path=ppt/slides/slide3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95375"/>
            <a:ext cx="9902857" cy="1106933"/>
            <a:chOff x="0" y="0"/>
            <a:chExt cx="13203809" cy="14759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475911"/>
            </a:xfrm>
            <a:custGeom>
              <a:avLst/>
              <a:gdLst/>
              <a:ahLst/>
              <a:cxnLst/>
              <a:rect r="r" b="b" t="t" l="l"/>
              <a:pathLst>
                <a:path h="1475911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475911"/>
                  </a:lnTo>
                  <a:lnTo>
                    <a:pt x="0" y="1475911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>
            <a:off x="1301557" y="6287054"/>
            <a:ext cx="8793399" cy="9515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314004" y="6380604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225854" y="1211584"/>
            <a:ext cx="1032081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98"/>
              </a:lnSpc>
              <a:spcBef>
                <a:spcPct val="0"/>
              </a:spcBef>
            </a:pPr>
            <a:r>
              <a:rPr lang="en-US" b="true" sz="2498" strike="noStrike" u="none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But what if the remaining challenge is the class imbalance and make Numerical feature Selection</a:t>
            </a:r>
            <a:r>
              <a:rPr lang="en-US" b="true" sz="2498" strike="noStrike" u="none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11287" y="219126"/>
            <a:ext cx="6464377" cy="466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9"/>
              </a:lnSpc>
              <a:spcBef>
                <a:spcPct val="0"/>
              </a:spcBef>
            </a:pPr>
            <a:r>
              <a:rPr lang="en-US" b="true" sz="2698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EX5 — Handling Class Imbalance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3334" y="2090055"/>
            <a:ext cx="1697534" cy="333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b="true" sz="19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Our Approach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0137" y="2632944"/>
            <a:ext cx="9586813" cy="609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  <a:spcBef>
                <a:spcPct val="0"/>
              </a:spcBef>
            </a:pPr>
            <a:r>
              <a:rPr lang="en-US" b="true" sz="18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Try different oversampling techniques → Evaluate their impact → Compare the results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5800" y="3711404"/>
            <a:ext cx="2668687" cy="333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b="true" sz="19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1)</a:t>
            </a:r>
            <a:r>
              <a:rPr lang="en-US" b="true" sz="19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Feature Engineering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1557" y="4248065"/>
            <a:ext cx="7805621" cy="99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3095" indent="-171547" lvl="1">
              <a:lnSpc>
                <a:spcPts val="1907"/>
              </a:lnSpc>
              <a:buFont typeface="Arial"/>
              <a:buChar char="•"/>
            </a:pPr>
            <a:r>
              <a:rPr lang="en-US" b="true" sz="1589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Reused the Text + Numerical feature Selection</a:t>
            </a:r>
          </a:p>
          <a:p>
            <a:pPr algn="l" marL="343095" indent="-171547" lvl="1">
              <a:lnSpc>
                <a:spcPts val="1907"/>
              </a:lnSpc>
              <a:buFont typeface="Arial"/>
              <a:buChar char="•"/>
            </a:pPr>
            <a:r>
              <a:rPr lang="en-US" b="true" sz="1589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Combined the main job-posting text fields.</a:t>
            </a:r>
          </a:p>
          <a:p>
            <a:pPr algn="l" marL="343095" indent="-171547" lvl="1">
              <a:lnSpc>
                <a:spcPts val="1907"/>
              </a:lnSpc>
              <a:buFont typeface="Arial"/>
              <a:buChar char="•"/>
            </a:pPr>
            <a:r>
              <a:rPr lang="en-US" b="true" sz="1589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Used TF-IDF for text representation.</a:t>
            </a:r>
          </a:p>
          <a:p>
            <a:pPr algn="l" marL="343095" indent="-171547" lvl="1">
              <a:lnSpc>
                <a:spcPts val="1907"/>
              </a:lnSpc>
              <a:buFont typeface="Arial"/>
              <a:buChar char="•"/>
            </a:pPr>
            <a:r>
              <a:rPr lang="en-US" b="true" sz="1589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Kept the same numerical and information-availability features.</a:t>
            </a:r>
          </a:p>
        </p:txBody>
      </p:sp>
    </p:spTree>
  </p:cSld>
  <p:clrMapOvr>
    <a:masterClrMapping/>
  </p:clrMapOvr>
  <p:transition spd="fast">
    <p:fade/>
  </p:transition>
</p:sld>
</file>

<file path=ppt/slides/slide3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953" y="-196983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142235" y="344513"/>
            <a:ext cx="10171419" cy="876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8"/>
              </a:lnSpc>
            </a:pPr>
            <a:r>
              <a:rPr lang="en-US" sz="2698" b="true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EX5 — Handling Class Imbalance</a:t>
            </a:r>
          </a:p>
          <a:p>
            <a:pPr algn="ctr">
              <a:lnSpc>
                <a:spcPts val="323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-142235" y="1173162"/>
            <a:ext cx="1032081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8"/>
              </a:lnSpc>
              <a:spcBef>
                <a:spcPct val="0"/>
              </a:spcBef>
            </a:pPr>
            <a:r>
              <a:rPr lang="en-US" b="true" sz="24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But w</a:t>
            </a:r>
            <a:r>
              <a:rPr lang="en-US" b="true" sz="24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hat if the </a:t>
            </a:r>
            <a:r>
              <a:rPr lang="en-US" b="true" sz="24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</a:t>
            </a:r>
            <a:r>
              <a:rPr lang="en-US" b="true" sz="24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emaining</a:t>
            </a:r>
            <a:r>
              <a:rPr lang="en-US" b="true" sz="24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challenge i</a:t>
            </a:r>
            <a:r>
              <a:rPr lang="en-US" b="true" sz="24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</a:t>
            </a:r>
            <a:r>
              <a:rPr lang="en-US" b="true" sz="24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the c</a:t>
            </a:r>
            <a:r>
              <a:rPr lang="en-US" b="true" sz="24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</a:t>
            </a:r>
            <a:r>
              <a:rPr lang="en-US" b="true" sz="24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</a:t>
            </a:r>
            <a:r>
              <a:rPr lang="en-US" b="true" sz="24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ss</a:t>
            </a:r>
            <a:r>
              <a:rPr lang="en-US" b="true" sz="24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im</a:t>
            </a:r>
            <a:r>
              <a:rPr lang="en-US" b="true" sz="24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bal</a:t>
            </a:r>
            <a:r>
              <a:rPr lang="en-US" b="true" sz="24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an</a:t>
            </a:r>
            <a:r>
              <a:rPr lang="en-US" b="true" sz="24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ce and make Numerical feature Selection</a:t>
            </a:r>
            <a:r>
              <a:rPr lang="en-US" b="true" sz="24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2181" y="2810398"/>
            <a:ext cx="7202587" cy="1971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9552" indent="-199776" lvl="1">
              <a:lnSpc>
                <a:spcPts val="2221"/>
              </a:lnSpc>
              <a:buFont typeface="Arial"/>
              <a:buChar char="•"/>
            </a:pPr>
            <a:r>
              <a:rPr lang="en-US" b="true" sz="185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Applied TF-IDF to text.</a:t>
            </a:r>
          </a:p>
          <a:p>
            <a:pPr algn="l" marL="399552" indent="-199776" lvl="1">
              <a:lnSpc>
                <a:spcPts val="2220"/>
              </a:lnSpc>
              <a:buFont typeface="Arial"/>
              <a:buChar char="•"/>
            </a:pPr>
            <a:r>
              <a:rPr lang="en-US" b="true" sz="185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Applied StandardScaler to numerical features.</a:t>
            </a:r>
          </a:p>
          <a:p>
            <a:pPr algn="l" marL="399552" indent="-199776" lvl="1">
              <a:lnSpc>
                <a:spcPts val="2220"/>
              </a:lnSpc>
              <a:buFont typeface="Arial"/>
              <a:buChar char="•"/>
            </a:pPr>
            <a:r>
              <a:rPr lang="en-US" b="true" sz="1850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Tested two imbalance techniques:</a:t>
            </a:r>
          </a:p>
          <a:p>
            <a:pPr algn="l" marL="399552" indent="-199776" lvl="1">
              <a:lnSpc>
                <a:spcPts val="2220"/>
              </a:lnSpc>
              <a:buFont typeface="Arial"/>
              <a:buChar char="•"/>
            </a:pPr>
            <a:r>
              <a:rPr lang="en-US" b="true" sz="185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Random OverSampling (ROS)</a:t>
            </a:r>
          </a:p>
          <a:p>
            <a:pPr algn="l" marL="399552" indent="-199776" lvl="1">
              <a:lnSpc>
                <a:spcPts val="2220"/>
              </a:lnSpc>
              <a:buFont typeface="Arial"/>
              <a:buChar char="•"/>
            </a:pPr>
            <a:r>
              <a:rPr lang="en-US" b="true" sz="185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SMOTE</a:t>
            </a:r>
          </a:p>
          <a:p>
            <a:pPr algn="l" marL="399552" indent="-199776" lvl="1">
              <a:lnSpc>
                <a:spcPts val="2221"/>
              </a:lnSpc>
              <a:buFont typeface="Arial"/>
              <a:buChar char="•"/>
            </a:pPr>
            <a:r>
              <a:rPr lang="en-US" b="true" sz="185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Resampling was appli</a:t>
            </a:r>
            <a:r>
              <a:rPr lang="en-US" b="true" sz="185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ed only to the training data.</a:t>
            </a:r>
          </a:p>
          <a:p>
            <a:pPr algn="l" marL="399552" indent="-199776" lvl="1">
              <a:lnSpc>
                <a:spcPts val="2220"/>
              </a:lnSpc>
              <a:buFont typeface="Arial"/>
              <a:buChar char="•"/>
            </a:pPr>
            <a:r>
              <a:rPr lang="en-US" b="true" sz="185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Tested multiple ML models.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5800" y="2183930"/>
            <a:ext cx="1983780" cy="333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99"/>
              </a:lnSpc>
              <a:spcBef>
                <a:spcPct val="0"/>
              </a:spcBef>
            </a:pPr>
            <a:r>
              <a:rPr lang="en-US" b="true" sz="1998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2)Preprocessing</a:t>
            </a:r>
          </a:p>
        </p:txBody>
      </p:sp>
    </p:spTree>
  </p:cSld>
  <p:clrMapOvr>
    <a:masterClrMapping/>
  </p:clrMapOvr>
  <p:transition spd="fast">
    <p:fade/>
  </p:transition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953" y="-196983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142235" y="344513"/>
            <a:ext cx="10171419" cy="876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8"/>
              </a:lnSpc>
            </a:pPr>
            <a:r>
              <a:rPr lang="en-US" sz="2698" b="true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EX5— Handling Class Imbalance</a:t>
            </a:r>
          </a:p>
          <a:p>
            <a:pPr algn="ctr">
              <a:lnSpc>
                <a:spcPts val="323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-216930" y="952684"/>
            <a:ext cx="1032081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8"/>
              </a:lnSpc>
              <a:spcBef>
                <a:spcPct val="0"/>
              </a:spcBef>
            </a:pPr>
            <a:r>
              <a:rPr lang="en-US" b="true" sz="24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But w</a:t>
            </a:r>
            <a:r>
              <a:rPr lang="en-US" b="true" sz="24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hat if the </a:t>
            </a:r>
            <a:r>
              <a:rPr lang="en-US" b="true" sz="24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</a:t>
            </a:r>
            <a:r>
              <a:rPr lang="en-US" b="true" sz="24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emaining</a:t>
            </a:r>
            <a:r>
              <a:rPr lang="en-US" b="true" sz="24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challenge i</a:t>
            </a:r>
            <a:r>
              <a:rPr lang="en-US" b="true" sz="24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</a:t>
            </a:r>
            <a:r>
              <a:rPr lang="en-US" b="true" sz="24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the c</a:t>
            </a:r>
            <a:r>
              <a:rPr lang="en-US" b="true" sz="24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</a:t>
            </a:r>
            <a:r>
              <a:rPr lang="en-US" b="true" sz="24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</a:t>
            </a:r>
            <a:r>
              <a:rPr lang="en-US" b="true" sz="24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ss</a:t>
            </a:r>
            <a:r>
              <a:rPr lang="en-US" b="true" sz="24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im</a:t>
            </a:r>
            <a:r>
              <a:rPr lang="en-US" b="true" sz="24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bal</a:t>
            </a:r>
            <a:r>
              <a:rPr lang="en-US" b="true" sz="24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an</a:t>
            </a:r>
            <a:r>
              <a:rPr lang="en-US" b="true" sz="24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ce and make Numerical feature Selection</a:t>
            </a:r>
            <a:r>
              <a:rPr lang="en-US" b="true" sz="24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?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94173" y="3429000"/>
            <a:ext cx="9247995" cy="2785191"/>
          </a:xfrm>
          <a:custGeom>
            <a:avLst/>
            <a:gdLst/>
            <a:ahLst/>
            <a:cxnLst/>
            <a:rect r="r" b="b" t="t" l="l"/>
            <a:pathLst>
              <a:path h="2785191" w="9247995">
                <a:moveTo>
                  <a:pt x="0" y="0"/>
                </a:moveTo>
                <a:lnTo>
                  <a:pt x="9247995" y="0"/>
                </a:lnTo>
                <a:lnTo>
                  <a:pt x="9247995" y="2785191"/>
                </a:lnTo>
                <a:lnTo>
                  <a:pt x="0" y="27851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6" t="0" r="-286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-58853" y="1695634"/>
            <a:ext cx="9701022" cy="1631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7942" indent="-188971" lvl="1">
              <a:lnSpc>
                <a:spcPts val="2100"/>
              </a:lnSpc>
              <a:buFont typeface="Arial"/>
              <a:buChar char="•"/>
            </a:pPr>
            <a:r>
              <a:rPr lang="en-US" b="true" sz="1750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</a:t>
            </a:r>
            <a:r>
              <a:rPr lang="en-US" b="true" sz="1750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3</a:t>
            </a:r>
            <a:r>
              <a:rPr lang="en-US" b="true" sz="1750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Best Models:</a:t>
            </a:r>
            <a:r>
              <a:rPr lang="en-US" b="true" sz="1750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1750" strike="noStrike" u="none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Best F1</a:t>
            </a:r>
            <a:r>
              <a:rPr lang="en-US" sz="1750" strike="noStrike" u="none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 —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Linear SVC + SMOTE (0.826). </a:t>
            </a:r>
            <a:r>
              <a:rPr lang="en-US" sz="1750" strike="noStrike" u="none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Best Recall 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— XGBoost + ROS (0.821). </a:t>
            </a:r>
            <a:r>
              <a:rPr lang="en-US" sz="1750" strike="noStrike" u="none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Best Precision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— Random Forest + SMOTE (1.000).</a:t>
            </a:r>
            <a:r>
              <a:rPr lang="en-US" sz="1750" strike="noStrike" u="none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1750" strike="noStrike" u="none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Best ROC-AUC</a:t>
            </a:r>
            <a:r>
              <a:rPr lang="en-US" sz="1750" strike="noStrike" u="none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— Logistic Regression + ROS (0.985).</a:t>
            </a:r>
          </a:p>
          <a:p>
            <a:pPr algn="l" marL="377942" indent="-188971" lvl="1">
              <a:lnSpc>
                <a:spcPts val="2100"/>
              </a:lnSpc>
              <a:buFont typeface="Arial"/>
              <a:buChar char="•"/>
            </a:pPr>
            <a:r>
              <a:rPr lang="en-US" b="true" sz="1750" strike="noStrike" u="none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Note</a:t>
            </a:r>
            <a:r>
              <a:rPr lang="en-US" sz="1750" strike="noStrike" u="none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: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Random Forest + SMOTE reached perfect precision (1.000) but the second-lowest recall in the table (0.601),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a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si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gn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of the mod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l b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com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in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g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ove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r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ly c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o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nser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v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at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v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on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syn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the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tic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minori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y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mp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le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s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ra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h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er 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th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an a 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genu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in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ely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better model</a:t>
            </a:r>
            <a:r>
              <a:rPr lang="en-US" sz="1750" strike="noStrike" u="none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.</a:t>
            </a:r>
          </a:p>
        </p:txBody>
      </p:sp>
    </p:spTree>
  </p:cSld>
  <p:clrMapOvr>
    <a:masterClrMapping/>
  </p:clrMapOvr>
  <p:transition spd="fast">
    <p:fade/>
  </p:transition>
</p:sld>
</file>

<file path=ppt/slides/slide3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4179" y="-377066"/>
            <a:ext cx="9902857" cy="1106933"/>
            <a:chOff x="0" y="0"/>
            <a:chExt cx="13203809" cy="14759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475911"/>
            </a:xfrm>
            <a:custGeom>
              <a:avLst/>
              <a:gdLst/>
              <a:ahLst/>
              <a:cxnLst/>
              <a:rect r="r" b="b" t="t" l="l"/>
              <a:pathLst>
                <a:path h="1475911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475911"/>
                  </a:lnTo>
                  <a:lnTo>
                    <a:pt x="0" y="1475911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492033"/>
            <a:ext cx="9925464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1"/>
              </a:lnSpc>
            </a:pPr>
          </a:p>
          <a:p>
            <a:pPr algn="ctr">
              <a:lnSpc>
                <a:spcPts val="2551"/>
              </a:lnSpc>
              <a:spcBef>
                <a:spcPct val="0"/>
              </a:spcBef>
            </a:pPr>
            <a:r>
              <a:rPr lang="en-US" b="true" sz="2126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What if instead of</a:t>
            </a:r>
            <a:r>
              <a:rPr lang="en-US" b="true" sz="2126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choosing one model, we combine the be</a:t>
            </a:r>
            <a:r>
              <a:rPr lang="en-US" b="true" sz="2126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</a:t>
            </a:r>
            <a:r>
              <a:rPr lang="en-US" b="true" sz="2126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on</a:t>
            </a:r>
            <a:r>
              <a:rPr lang="en-US" b="true" sz="2126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es</a:t>
            </a:r>
            <a:r>
              <a:rPr lang="en-US" b="true" sz="2126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?</a:t>
            </a:r>
          </a:p>
          <a:p>
            <a:pPr algn="ctr">
              <a:lnSpc>
                <a:spcPts val="2551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-233460" y="1234692"/>
            <a:ext cx="10279739" cy="77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8"/>
              </a:lnSpc>
            </a:pPr>
          </a:p>
          <a:p>
            <a:pPr algn="ctr">
              <a:lnSpc>
                <a:spcPts val="2038"/>
              </a:lnSpc>
              <a:spcBef>
                <a:spcPct val="0"/>
              </a:spcBef>
            </a:pPr>
            <a:r>
              <a:rPr lang="en-US" b="true" sz="16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</a:t>
            </a:r>
            <a:r>
              <a:rPr lang="en-US" b="true" sz="16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ifferent models may make different mistakes,combining them can improve the final decision.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84650" y="1846995"/>
            <a:ext cx="9424027" cy="1647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</a:p>
          <a:p>
            <a:pPr algn="ctr">
              <a:lnSpc>
                <a:spcPts val="2100"/>
              </a:lnSpc>
              <a:spcBef>
                <a:spcPct val="0"/>
              </a:spcBef>
            </a:pP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b="true" sz="1750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Hard Voting</a:t>
            </a:r>
            <a:r>
              <a:rPr lang="en-US" sz="1750">
                <a:solidFill>
                  <a:srgbClr val="DC2626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175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→ Majority vote between the models.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b="true" sz="1750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Stacking</a:t>
            </a:r>
            <a:r>
              <a:rPr lang="en-US" sz="175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→ Uses a Logistic Regression model to learn how to combine the base models' predictions.</a:t>
            </a:r>
          </a:p>
          <a:p>
            <a:pPr algn="ctr">
              <a:lnSpc>
                <a:spcPts val="210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128670" y="119251"/>
            <a:ext cx="5368838" cy="466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39"/>
              </a:lnSpc>
              <a:spcBef>
                <a:spcPct val="0"/>
              </a:spcBef>
            </a:pPr>
            <a:r>
              <a:rPr lang="en-US" b="true" sz="2698" strike="noStrike" u="none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EX6 — Ensemble Learning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815" y="1989783"/>
            <a:ext cx="4072266" cy="323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  <a:spcBef>
                <a:spcPct val="0"/>
              </a:spcBef>
            </a:pPr>
            <a:r>
              <a:rPr lang="en-US" b="true" sz="18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We tested two approaches: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16990" y="3209172"/>
            <a:ext cx="5480518" cy="333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b="true" sz="19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How Did We Build the Ensembles?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7444" y="4256845"/>
            <a:ext cx="7892063" cy="1838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b="true" sz="16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We Used the best model variants from EX3.</a:t>
            </a:r>
          </a:p>
          <a:p>
            <a:pPr algn="l" marL="366812" indent="-183406" lvl="1">
              <a:lnSpc>
                <a:spcPts val="2039"/>
              </a:lnSpc>
              <a:buFont typeface="Arial"/>
              <a:buChar char="•"/>
            </a:pPr>
            <a:r>
              <a:rPr lang="en-US" b="true" sz="16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Selected four strong base models:</a:t>
            </a:r>
          </a:p>
          <a:p>
            <a:pPr algn="l" marL="366812" indent="-183406" lvl="1">
              <a:lnSpc>
                <a:spcPts val="2039"/>
              </a:lnSpc>
              <a:buFont typeface="Arial"/>
              <a:buChar char="•"/>
            </a:pPr>
            <a:r>
              <a:rPr lang="en-US" b="true" sz="16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Logistic Regression + ROS</a:t>
            </a:r>
          </a:p>
          <a:p>
            <a:pPr algn="l" marL="366812" indent="-183406" lvl="1">
              <a:lnSpc>
                <a:spcPts val="2039"/>
              </a:lnSpc>
              <a:buFont typeface="Arial"/>
              <a:buChar char="•"/>
            </a:pPr>
            <a:r>
              <a:rPr lang="en-US" b="true" sz="16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Linear SVC + ROS</a:t>
            </a:r>
          </a:p>
          <a:p>
            <a:pPr algn="l" marL="366812" indent="-183406" lvl="1">
              <a:lnSpc>
                <a:spcPts val="2039"/>
              </a:lnSpc>
              <a:buFont typeface="Arial"/>
              <a:buChar char="•"/>
            </a:pPr>
            <a:r>
              <a:rPr lang="en-US" b="true" sz="16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Random Forest + SMOTE</a:t>
            </a:r>
          </a:p>
          <a:p>
            <a:pPr algn="l" marL="366812" indent="-183406" lvl="1">
              <a:lnSpc>
                <a:spcPts val="2039"/>
              </a:lnSpc>
              <a:buFont typeface="Arial"/>
              <a:buChar char="•"/>
            </a:pPr>
            <a:r>
              <a:rPr lang="en-US" b="true" sz="16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XGBoost + SMOTE</a:t>
            </a:r>
          </a:p>
          <a:p>
            <a:pPr algn="l" marL="366812" indent="-183406" lvl="1">
              <a:lnSpc>
                <a:spcPts val="2039"/>
              </a:lnSpc>
              <a:buFont typeface="Arial"/>
              <a:buChar char="•"/>
            </a:pPr>
            <a:r>
              <a:rPr lang="en-US" b="true" sz="16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Their predictions were used as inputs for ensemble methods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4650" y="3733008"/>
            <a:ext cx="2668687" cy="333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b="true" sz="19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1)</a:t>
            </a:r>
            <a:r>
              <a:rPr lang="en-US" b="true" sz="19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Feature Engineering</a:t>
            </a:r>
          </a:p>
        </p:txBody>
      </p:sp>
    </p:spTree>
  </p:cSld>
  <p:clrMapOvr>
    <a:masterClrMapping/>
  </p:clrMapOvr>
  <p:transition spd="fast">
    <p:fade/>
  </p:transition>
</p:sld>
</file>

<file path=ppt/slides/slide4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607" y="-279873"/>
            <a:ext cx="9902857" cy="1106933"/>
            <a:chOff x="0" y="0"/>
            <a:chExt cx="13203809" cy="14759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475911"/>
            </a:xfrm>
            <a:custGeom>
              <a:avLst/>
              <a:gdLst/>
              <a:ahLst/>
              <a:cxnLst/>
              <a:rect r="r" b="b" t="t" l="l"/>
              <a:pathLst>
                <a:path h="1475911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475911"/>
                  </a:lnTo>
                  <a:lnTo>
                    <a:pt x="0" y="1475911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38514" y="1021838"/>
            <a:ext cx="9925464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1"/>
              </a:lnSpc>
            </a:pPr>
          </a:p>
          <a:p>
            <a:pPr algn="ctr">
              <a:lnSpc>
                <a:spcPts val="2551"/>
              </a:lnSpc>
              <a:spcBef>
                <a:spcPct val="0"/>
              </a:spcBef>
            </a:pPr>
            <a:r>
              <a:rPr lang="en-US" b="true" sz="2126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What if instead of</a:t>
            </a:r>
            <a:r>
              <a:rPr lang="en-US" b="true" sz="2126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choosing one model, we combine the be</a:t>
            </a:r>
            <a:r>
              <a:rPr lang="en-US" b="true" sz="2126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</a:t>
            </a:r>
            <a:r>
              <a:rPr lang="en-US" b="true" sz="2126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on</a:t>
            </a:r>
            <a:r>
              <a:rPr lang="en-US" b="true" sz="2126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es</a:t>
            </a:r>
            <a:r>
              <a:rPr lang="en-US" b="true" sz="2126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?</a:t>
            </a:r>
          </a:p>
          <a:p>
            <a:pPr algn="ctr">
              <a:lnSpc>
                <a:spcPts val="2551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259056" y="216444"/>
            <a:ext cx="5368838" cy="466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39"/>
              </a:lnSpc>
              <a:spcBef>
                <a:spcPct val="0"/>
              </a:spcBef>
            </a:pPr>
            <a:r>
              <a:rPr lang="en-US" b="true" sz="2698" strike="noStrike" u="none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EX6— Ensemble Learning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1724" y="2866527"/>
            <a:ext cx="8975229" cy="1466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9991" indent="-204995" lvl="1">
              <a:lnSpc>
                <a:spcPts val="2279"/>
              </a:lnSpc>
              <a:buFont typeface="Arial"/>
              <a:buChar char="•"/>
            </a:pPr>
            <a:r>
              <a:rPr lang="en-US" b="true" sz="18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Built two ensemble approaches:</a:t>
            </a:r>
          </a:p>
          <a:p>
            <a:pPr algn="l" marL="409991" indent="-204995" lvl="1">
              <a:lnSpc>
                <a:spcPts val="2279"/>
              </a:lnSpc>
              <a:buFont typeface="Arial"/>
              <a:buChar char="•"/>
            </a:pPr>
            <a:r>
              <a:rPr lang="en-US" b="true" sz="18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Hard Voting</a:t>
            </a:r>
          </a:p>
          <a:p>
            <a:pPr algn="l" marL="409991" indent="-204995" lvl="1">
              <a:lnSpc>
                <a:spcPts val="2279"/>
              </a:lnSpc>
              <a:buFont typeface="Arial"/>
              <a:buChar char="•"/>
            </a:pPr>
            <a:r>
              <a:rPr lang="en-US" b="true" sz="18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Stacking</a:t>
            </a:r>
          </a:p>
          <a:p>
            <a:pPr algn="l" marL="409991" indent="-204995" lvl="1">
              <a:lnSpc>
                <a:spcPts val="2279"/>
              </a:lnSpc>
              <a:buFont typeface="Arial"/>
              <a:buChar char="•"/>
            </a:pPr>
            <a:r>
              <a:rPr lang="en-US" b="true" sz="18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Hard Voting → majority decision.</a:t>
            </a:r>
          </a:p>
          <a:p>
            <a:pPr algn="l" marL="409991" indent="-204995" lvl="1">
              <a:lnSpc>
                <a:spcPts val="2279"/>
              </a:lnSpc>
              <a:buFont typeface="Arial"/>
              <a:buChar char="•"/>
            </a:pPr>
            <a:r>
              <a:rPr lang="en-US" b="true" sz="18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Stacking → Logistic Regression learns how to combine model predictions.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2595" y="2245316"/>
            <a:ext cx="1983780" cy="333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99"/>
              </a:lnSpc>
              <a:spcBef>
                <a:spcPct val="0"/>
              </a:spcBef>
            </a:pPr>
            <a:r>
              <a:rPr lang="en-US" b="true" sz="1998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2)Preprocessing</a:t>
            </a:r>
          </a:p>
        </p:txBody>
      </p:sp>
    </p:spTree>
  </p:cSld>
  <p:clrMapOvr>
    <a:masterClrMapping/>
  </p:clrMapOvr>
  <p:transition spd="fast">
    <p:fade/>
  </p:transition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42245"/>
            <a:ext cx="9902857" cy="1106933"/>
            <a:chOff x="0" y="0"/>
            <a:chExt cx="13203809" cy="14759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475911"/>
            </a:xfrm>
            <a:custGeom>
              <a:avLst/>
              <a:gdLst/>
              <a:ahLst/>
              <a:cxnLst/>
              <a:rect r="r" b="b" t="t" l="l"/>
              <a:pathLst>
                <a:path h="1475911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475911"/>
                  </a:lnTo>
                  <a:lnTo>
                    <a:pt x="0" y="1475911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38514" y="1021838"/>
            <a:ext cx="9925464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1"/>
              </a:lnSpc>
            </a:pPr>
          </a:p>
          <a:p>
            <a:pPr algn="ctr">
              <a:lnSpc>
                <a:spcPts val="2551"/>
              </a:lnSpc>
              <a:spcBef>
                <a:spcPct val="0"/>
              </a:spcBef>
            </a:pPr>
            <a:r>
              <a:rPr lang="en-US" b="true" sz="2126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What if instead of</a:t>
            </a:r>
            <a:r>
              <a:rPr lang="en-US" b="true" sz="2126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choosing one model, we combine the be</a:t>
            </a:r>
            <a:r>
              <a:rPr lang="en-US" b="true" sz="2126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</a:t>
            </a:r>
            <a:r>
              <a:rPr lang="en-US" b="true" sz="2126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on</a:t>
            </a:r>
            <a:r>
              <a:rPr lang="en-US" b="true" sz="2126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es</a:t>
            </a:r>
            <a:r>
              <a:rPr lang="en-US" b="true" sz="2126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?</a:t>
            </a:r>
          </a:p>
          <a:p>
            <a:pPr algn="ctr">
              <a:lnSpc>
                <a:spcPts val="2551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016990" y="278940"/>
            <a:ext cx="5368838" cy="466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39"/>
              </a:lnSpc>
              <a:spcBef>
                <a:spcPct val="0"/>
              </a:spcBef>
            </a:pPr>
            <a:r>
              <a:rPr lang="en-US" b="true" sz="2698" strike="noStrike" u="none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EX6— Ensemble Learning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94977" y="2496574"/>
            <a:ext cx="9567473" cy="1149339"/>
          </a:xfrm>
          <a:custGeom>
            <a:avLst/>
            <a:gdLst/>
            <a:ahLst/>
            <a:cxnLst/>
            <a:rect r="r" b="b" t="t" l="l"/>
            <a:pathLst>
              <a:path h="1149339" w="9567473">
                <a:moveTo>
                  <a:pt x="0" y="0"/>
                </a:moveTo>
                <a:lnTo>
                  <a:pt x="9567473" y="0"/>
                </a:lnTo>
                <a:lnTo>
                  <a:pt x="9567473" y="1149340"/>
                </a:lnTo>
                <a:lnTo>
                  <a:pt x="0" y="11493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94977" y="4065014"/>
            <a:ext cx="9448286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45"/>
              </a:lnSpc>
              <a:spcBef>
                <a:spcPct val="0"/>
              </a:spcBef>
            </a:pPr>
            <a:r>
              <a:rPr lang="en-US" b="true" sz="1704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</a:t>
            </a:r>
            <a:r>
              <a:rPr lang="en-US" b="true" sz="1704" strike="noStrike" u="none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onclusion: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The 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Stacking ensemble achieved the high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est F1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-score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(0.850), p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oviding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b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est overall 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performance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among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h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ev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luate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ensemble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approaches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. Hard V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oti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ng a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hieved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hi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g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h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es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 preci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sion 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(0.992),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but its recall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was lower (0.676), 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sulti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ng 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in a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l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ow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er F1-scor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e. Overa</a:t>
            </a:r>
            <a:r>
              <a:rPr lang="en-US" b="true" sz="1704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ll</a:t>
            </a:r>
          </a:p>
        </p:txBody>
      </p:sp>
    </p:spTree>
  </p:cSld>
  <p:clrMapOvr>
    <a:masterClrMapping/>
  </p:clrMapOvr>
  <p:transition spd="fast">
    <p:fade/>
  </p:transition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824" y="-157646"/>
            <a:ext cx="9902857" cy="1106933"/>
            <a:chOff x="0" y="0"/>
            <a:chExt cx="13203809" cy="14759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475911"/>
            </a:xfrm>
            <a:custGeom>
              <a:avLst/>
              <a:gdLst/>
              <a:ahLst/>
              <a:cxnLst/>
              <a:rect r="r" b="b" t="t" l="l"/>
              <a:pathLst>
                <a:path h="1475911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475911"/>
                  </a:lnTo>
                  <a:lnTo>
                    <a:pt x="0" y="1475911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39499" y="696900"/>
            <a:ext cx="9925464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"/>
              </a:lnSpc>
              <a:spcBef>
                <a:spcPct val="0"/>
              </a:spcBef>
            </a:pPr>
          </a:p>
          <a:p>
            <a:pPr algn="ctr">
              <a:lnSpc>
                <a:spcPts val="2431"/>
              </a:lnSpc>
              <a:spcBef>
                <a:spcPct val="0"/>
              </a:spcBef>
            </a:pPr>
            <a:r>
              <a:rPr lang="en-US" b="true" sz="2026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What if instead of representing the job text using TF-IDF, </a:t>
            </a:r>
          </a:p>
          <a:p>
            <a:pPr algn="ctr">
              <a:lnSpc>
                <a:spcPts val="2431"/>
              </a:lnSpc>
              <a:spcBef>
                <a:spcPct val="0"/>
              </a:spcBef>
            </a:pPr>
            <a:r>
              <a:rPr lang="en-US" b="true" sz="2026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we use a Transformer that understands context?</a:t>
            </a:r>
          </a:p>
          <a:p>
            <a:pPr algn="ctr">
              <a:lnSpc>
                <a:spcPts val="2431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72595" y="133909"/>
            <a:ext cx="8921313" cy="466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39"/>
              </a:lnSpc>
              <a:spcBef>
                <a:spcPct val="0"/>
              </a:spcBef>
            </a:pPr>
            <a:r>
              <a:rPr lang="en-US" b="true" sz="2698" strike="noStrike" u="none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EX7 — DistilBERT Feature Extraction (Frozen)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20474" y="1883624"/>
            <a:ext cx="3393031" cy="304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  <a:spcBef>
                <a:spcPct val="0"/>
              </a:spcBef>
            </a:pPr>
            <a:r>
              <a:rPr lang="en-US" b="true" sz="17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We tested two approaches: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0555" y="2436039"/>
            <a:ext cx="6780907" cy="1638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  <a:spcBef>
                <a:spcPct val="0"/>
              </a:spcBef>
            </a:pPr>
            <a:r>
              <a:rPr lang="en-US" b="true" sz="17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Point A ) Frozen DistilBERT</a:t>
            </a:r>
          </a:p>
          <a:p>
            <a:pPr algn="l" marL="388401" indent="-194201" lvl="1">
              <a:lnSpc>
                <a:spcPts val="2159"/>
              </a:lnSpc>
              <a:buFont typeface="Arial"/>
              <a:buChar char="•"/>
            </a:pPr>
            <a:r>
              <a:rPr lang="en-US" b="true" sz="17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Used pre-trained DistilBERT as a frozen feature extractor.</a:t>
            </a:r>
          </a:p>
          <a:p>
            <a:pPr algn="l" marL="388401" indent="-194201" lvl="1">
              <a:lnSpc>
                <a:spcPts val="2159"/>
              </a:lnSpc>
              <a:buFont typeface="Arial"/>
              <a:buChar char="•"/>
            </a:pPr>
            <a:r>
              <a:rPr lang="en-US" b="true" sz="17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DistilBERT weights were not updated during training.</a:t>
            </a:r>
          </a:p>
          <a:p>
            <a:pPr algn="l" marL="388401" indent="-194201" lvl="1">
              <a:lnSpc>
                <a:spcPts val="2159"/>
              </a:lnSpc>
              <a:buFont typeface="Arial"/>
              <a:buChar char="•"/>
            </a:pPr>
            <a:r>
              <a:rPr lang="en-US" b="true" sz="17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Extracted contextual text embeddings using mean pooling.</a:t>
            </a:r>
          </a:p>
          <a:p>
            <a:pPr algn="l" marL="388401" indent="-194201" lvl="1">
              <a:lnSpc>
                <a:spcPts val="2159"/>
              </a:lnSpc>
              <a:buFont typeface="Arial"/>
              <a:buChar char="•"/>
            </a:pPr>
            <a:r>
              <a:rPr lang="en-US" b="true" sz="17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Combined the embeddings with numerical features.</a:t>
            </a:r>
          </a:p>
          <a:p>
            <a:pPr algn="l" marL="388401" indent="-194201" lvl="1">
              <a:lnSpc>
                <a:spcPts val="2159"/>
              </a:lnSpc>
              <a:buFont typeface="Arial"/>
              <a:buChar char="•"/>
            </a:pPr>
            <a:r>
              <a:rPr lang="en-US" b="true" sz="17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Trained classical ML models on the combined features.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85800" y="4360055"/>
            <a:ext cx="8474867" cy="637208"/>
          </a:xfrm>
          <a:custGeom>
            <a:avLst/>
            <a:gdLst/>
            <a:ahLst/>
            <a:cxnLst/>
            <a:rect r="r" b="b" t="t" l="l"/>
            <a:pathLst>
              <a:path h="637208" w="8474867">
                <a:moveTo>
                  <a:pt x="0" y="0"/>
                </a:moveTo>
                <a:lnTo>
                  <a:pt x="8474867" y="0"/>
                </a:lnTo>
                <a:lnTo>
                  <a:pt x="8474867" y="637208"/>
                </a:lnTo>
                <a:lnTo>
                  <a:pt x="0" y="6372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4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43" y="-305655"/>
            <a:ext cx="9902857" cy="1106933"/>
            <a:chOff x="0" y="0"/>
            <a:chExt cx="13203809" cy="14759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475911"/>
            </a:xfrm>
            <a:custGeom>
              <a:avLst/>
              <a:gdLst/>
              <a:ahLst/>
              <a:cxnLst/>
              <a:rect r="r" b="b" t="t" l="l"/>
              <a:pathLst>
                <a:path h="1475911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475911"/>
                  </a:lnTo>
                  <a:lnTo>
                    <a:pt x="0" y="1475911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38514" y="593724"/>
            <a:ext cx="9925464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1"/>
              </a:lnSpc>
              <a:spcBef>
                <a:spcPct val="0"/>
              </a:spcBef>
            </a:pPr>
          </a:p>
          <a:p>
            <a:pPr algn="ctr">
              <a:lnSpc>
                <a:spcPts val="2191"/>
              </a:lnSpc>
              <a:spcBef>
                <a:spcPct val="0"/>
              </a:spcBef>
            </a:pPr>
            <a:r>
              <a:rPr lang="en-US" b="true" sz="1826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What if instead of representing the job text using TF-IDF,</a:t>
            </a:r>
          </a:p>
          <a:p>
            <a:pPr algn="ctr">
              <a:lnSpc>
                <a:spcPts val="2191"/>
              </a:lnSpc>
              <a:spcBef>
                <a:spcPct val="0"/>
              </a:spcBef>
            </a:pPr>
            <a:r>
              <a:rPr lang="en-US" b="true" sz="1826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we use a Transformer that understands context and train data?</a:t>
            </a:r>
          </a:p>
          <a:p>
            <a:pPr algn="ctr">
              <a:lnSpc>
                <a:spcPts val="2191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72595" y="95944"/>
            <a:ext cx="8780952" cy="1285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38"/>
              </a:lnSpc>
              <a:spcBef>
                <a:spcPct val="0"/>
              </a:spcBef>
            </a:pPr>
            <a:r>
              <a:rPr lang="en-US" b="true" sz="2698" strike="noStrike" u="none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EX7— DistilBERT Feature Extraction vs Fine-Tuning</a:t>
            </a:r>
          </a:p>
          <a:p>
            <a:pPr algn="ctr" marL="0" indent="0" lvl="0">
              <a:lnSpc>
                <a:spcPts val="3238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23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560149" y="1734729"/>
            <a:ext cx="7102078" cy="220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59"/>
              </a:lnSpc>
              <a:spcBef>
                <a:spcPct val="0"/>
              </a:spcBef>
            </a:pPr>
            <a:r>
              <a:rPr lang="en-US" b="true" sz="1798" strike="noStrike" u="none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Point B )Fine-Tuned DistilBERT</a:t>
            </a:r>
          </a:p>
          <a:p>
            <a:pPr algn="l" marL="345222" indent="-172611" lvl="1">
              <a:lnSpc>
                <a:spcPts val="1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598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Used pre-trained DistilBERT and fine-tuned it on the job fraud dataset.</a:t>
            </a:r>
          </a:p>
          <a:p>
            <a:pPr algn="l" marL="345222" indent="-172611" lvl="1">
              <a:lnSpc>
                <a:spcPts val="1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598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Unlike Point A, the DistilBERT weights were updated during training.</a:t>
            </a:r>
          </a:p>
          <a:p>
            <a:pPr algn="l" marL="345222" indent="-172611" lvl="1">
              <a:lnSpc>
                <a:spcPts val="1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598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Combined the learned text representation with numerical features.</a:t>
            </a:r>
          </a:p>
          <a:p>
            <a:pPr algn="l" marL="345222" indent="-172611" lvl="1">
              <a:lnSpc>
                <a:spcPts val="1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598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Added a classification layer to predict Legitimate vs Fraudulent jobs.</a:t>
            </a:r>
          </a:p>
          <a:p>
            <a:pPr algn="l" marL="345222" indent="-172611" lvl="1">
              <a:lnSpc>
                <a:spcPts val="191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598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F1-score: 0.865</a:t>
            </a:r>
          </a:p>
          <a:p>
            <a:pPr algn="l" marL="345222" indent="-172611" lvl="1">
              <a:lnSpc>
                <a:spcPts val="191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598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ROC-AUC: 0.989</a:t>
            </a:r>
          </a:p>
          <a:p>
            <a:pPr algn="l" marL="345222" indent="-172611" lvl="1">
              <a:lnSpc>
                <a:spcPts val="191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598" strike="noStrike" u="none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PR-AUC: 0.912</a:t>
            </a:r>
          </a:p>
          <a:p>
            <a:pPr algn="l" marL="0" indent="0" lvl="0">
              <a:lnSpc>
                <a:spcPts val="1918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572595" y="3997151"/>
            <a:ext cx="9143123" cy="1362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4590" indent="-207295" lvl="1">
              <a:lnSpc>
                <a:spcPts val="2304"/>
              </a:lnSpc>
              <a:buAutoNum type="arabicPeriod" startAt="1"/>
            </a:pPr>
            <a:r>
              <a:rPr lang="en-US" b="true" sz="1920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Conclusion</a:t>
            </a:r>
          </a:p>
          <a:p>
            <a:pPr algn="l" marL="371411" indent="-185705" lvl="1">
              <a:lnSpc>
                <a:spcPts val="2064"/>
              </a:lnSpc>
              <a:buFont typeface="Arial"/>
              <a:buChar char="•"/>
            </a:pPr>
            <a:r>
              <a:rPr lang="en-US" b="true" sz="172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Fine-Tuned DistilBERT performed better than the frozen version.</a:t>
            </a:r>
          </a:p>
          <a:p>
            <a:pPr algn="l" marL="371411" indent="-185705" lvl="1">
              <a:lnSpc>
                <a:spcPts val="206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72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It achieved</a:t>
            </a:r>
            <a:r>
              <a:rPr lang="en-US" b="true" sz="1720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the highest F1-score: 0.865.</a:t>
            </a:r>
          </a:p>
          <a:p>
            <a:pPr algn="l" marL="371411" indent="-185705" lvl="1">
              <a:lnSpc>
                <a:spcPts val="2064"/>
              </a:lnSpc>
              <a:buFont typeface="Arial"/>
              <a:buChar char="•"/>
            </a:pPr>
            <a:r>
              <a:rPr lang="en-US" b="true" sz="172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It also outperformed our previous best model, Stacking: 0.850.</a:t>
            </a:r>
          </a:p>
          <a:p>
            <a:pPr algn="l" marL="371411" indent="-185705" lvl="1">
              <a:lnSpc>
                <a:spcPts val="206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720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Fine-Tuned DistilBERT was our best model.</a:t>
            </a:r>
          </a:p>
        </p:txBody>
      </p:sp>
    </p:spTree>
  </p:cSld>
  <p:clrMapOvr>
    <a:masterClrMapping/>
  </p:clrMapOvr>
  <p:transition spd="fast">
    <p:fade/>
  </p:transition>
</p:sld>
</file>

<file path=ppt/slides/slide44.xml><?xml version="1.0" encoding="utf-8"?>
<p:sld xmlns:p="http://schemas.openxmlformats.org/presentationml/2006/main" xmlns:a="http://schemas.openxmlformats.org/drawingml/2006/main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46831" y="6277631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5800" y="1797389"/>
            <a:ext cx="9201150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</a:t>
            </a:r>
            <a:r>
              <a:rPr lang="en-US" sz="4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nclusion, Recommendations &amp; Future Work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24" y="3408405"/>
            <a:ext cx="3748283" cy="9525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fade/>
  </p:transition>
</p:sld>
</file>

<file path=ppt/slides/slide4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0"/>
            <a:ext cx="9902857" cy="1197292"/>
            <a:chOff x="0" y="0"/>
            <a:chExt cx="13203809" cy="15963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03810" cy="1596390"/>
            </a:xfrm>
            <a:custGeom>
              <a:avLst/>
              <a:gdLst/>
              <a:ahLst/>
              <a:cxnLst/>
              <a:rect r="r" b="b" t="t" l="l"/>
              <a:pathLst>
                <a:path h="1596390" w="1320381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</p:sp>
      </p:grpSp>
      <p:sp>
        <p:nvSpPr>
          <p:cNvPr name="AutoShape 4" id="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72595" y="6298225"/>
            <a:ext cx="2888790" cy="257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8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5816" y="336734"/>
            <a:ext cx="7560866" cy="466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39"/>
              </a:lnSpc>
              <a:spcBef>
                <a:spcPct val="0"/>
              </a:spcBef>
            </a:pPr>
            <a:r>
              <a:rPr lang="en-US" b="true" sz="2698" strike="noStrike" u="none">
                <a:solidFill>
                  <a:srgbClr val="F8FAF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Conclusion, Recommendations &amp; Future Work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9559" y="1279315"/>
            <a:ext cx="9767391" cy="2019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52"/>
              </a:lnSpc>
              <a:spcBef>
                <a:spcPct val="0"/>
              </a:spcBef>
            </a:pPr>
            <a:r>
              <a:rPr lang="en-US" b="true" sz="1626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Conclusion</a:t>
            </a:r>
          </a:p>
          <a:p>
            <a:pPr algn="just" marL="351254" indent="-175627" lvl="1">
              <a:lnSpc>
                <a:spcPts val="1952"/>
              </a:lnSpc>
              <a:buFont typeface="Arial"/>
              <a:buChar char="•"/>
            </a:pPr>
            <a:r>
              <a:rPr lang="en-US" b="true" sz="1626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We tested different ML, ensemble, and Transformer approaches.</a:t>
            </a:r>
          </a:p>
          <a:p>
            <a:pPr algn="just" marL="351254" indent="-175627" lvl="1">
              <a:lnSpc>
                <a:spcPts val="1952"/>
              </a:lnSpc>
              <a:buFont typeface="Arial"/>
              <a:buChar char="•"/>
            </a:pPr>
            <a:r>
              <a:rPr lang="en-US" b="true" sz="1626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Each experiment helped us improve our fraud detection.</a:t>
            </a:r>
          </a:p>
          <a:p>
            <a:pPr algn="just" marL="351254" indent="-175627" lvl="1">
              <a:lnSpc>
                <a:spcPts val="1952"/>
              </a:lnSpc>
              <a:buFont typeface="Arial"/>
              <a:buChar char="•"/>
            </a:pPr>
            <a:r>
              <a:rPr lang="en-US" b="true" sz="1626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Stacking achieved a strong F1-score of 0.850, However, it is slower and more time-consuming because it combines multiple models.</a:t>
            </a:r>
          </a:p>
          <a:p>
            <a:pPr algn="just" marL="351254" indent="-175627" lvl="1">
              <a:lnSpc>
                <a:spcPts val="1952"/>
              </a:lnSpc>
              <a:buFont typeface="Arial"/>
              <a:buChar char="•"/>
            </a:pPr>
            <a:r>
              <a:rPr lang="en-US" b="true" sz="1626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Fine-Tuned DistilBERT achieved the highest F1-score of 0.865.</a:t>
            </a:r>
          </a:p>
          <a:p>
            <a:pPr algn="just" marL="351254" indent="-175627" lvl="1">
              <a:lnSpc>
                <a:spcPts val="1952"/>
              </a:lnSpc>
              <a:buFont typeface="Arial"/>
              <a:buChar char="•"/>
            </a:pPr>
            <a:r>
              <a:rPr lang="en-US" b="true" sz="1626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Linear SVC provides the best overall trade-off between performance and computational time.</a:t>
            </a:r>
          </a:p>
          <a:p>
            <a:pPr algn="just" marL="351254" indent="-175627" lvl="1">
              <a:lnSpc>
                <a:spcPts val="1952"/>
              </a:lnSpc>
              <a:buFont typeface="Arial"/>
              <a:buChar char="•"/>
            </a:pPr>
            <a:r>
              <a:rPr lang="en-US" b="true" sz="1626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Therefore, Linear SVC is the preferred model for practical use.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9559" y="3526857"/>
            <a:ext cx="6850856" cy="1066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  <a:spcBef>
                <a:spcPct val="0"/>
              </a:spcBef>
            </a:pPr>
            <a:r>
              <a:rPr lang="en-US" b="true" sz="1698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Recommendations</a:t>
            </a:r>
          </a:p>
          <a:p>
            <a:pPr algn="l" marL="366812" indent="-183406" lvl="1">
              <a:lnSpc>
                <a:spcPts val="2039"/>
              </a:lnSpc>
              <a:buFont typeface="Arial"/>
              <a:buChar char="•"/>
            </a:pPr>
            <a:r>
              <a:rPr lang="en-US" b="true" sz="16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Use Linear SVC when speed and efficiency are more important.</a:t>
            </a:r>
          </a:p>
          <a:p>
            <a:pPr algn="ctr" marL="366812" indent="-183406" lvl="1">
              <a:lnSpc>
                <a:spcPts val="2039"/>
              </a:lnSpc>
              <a:buFont typeface="Arial"/>
              <a:buChar char="•"/>
            </a:pPr>
            <a:r>
              <a:rPr lang="en-US" b="true" sz="16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Keep text + numerical features for better fraud detection.</a:t>
            </a:r>
          </a:p>
          <a:p>
            <a:pPr algn="ctr" marL="366812" indent="-183406" lvl="1">
              <a:lnSpc>
                <a:spcPts val="2038"/>
              </a:lnSpc>
              <a:buFont typeface="Arial"/>
              <a:buChar char="•"/>
            </a:pPr>
            <a:r>
              <a:rPr lang="en-US" b="true" sz="16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Focus on F1-score because the dataset is imbalanced.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9559" y="5103916"/>
            <a:ext cx="1262559" cy="295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39"/>
              </a:lnSpc>
              <a:spcBef>
                <a:spcPct val="0"/>
              </a:spcBef>
            </a:pPr>
            <a:r>
              <a:rPr lang="en-US" b="true" sz="1698" strike="noStrike" u="none">
                <a:solidFill>
                  <a:srgbClr val="DC2626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Future Work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559" y="5103916"/>
            <a:ext cx="6284615" cy="552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b="true" sz="16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.</a:t>
            </a:r>
          </a:p>
          <a:p>
            <a:pPr algn="l" marL="366812" indent="-183406" lvl="1">
              <a:lnSpc>
                <a:spcPts val="2039"/>
              </a:lnSpc>
              <a:buFont typeface="Arial"/>
              <a:buChar char="•"/>
            </a:pPr>
            <a:r>
              <a:rPr lang="en-US" b="true" sz="1698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Try other Transformer models such as BERT or RoBERTa.</a:t>
            </a:r>
          </a:p>
        </p:txBody>
      </p:sp>
    </p:spTree>
  </p:cSld>
  <p:clrMapOvr>
    <a:masterClrMapping/>
  </p:clrMapOvr>
  <p:transition spd="fast">
    <p:fade/>
  </p:transition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3E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2979" y="5592937"/>
            <a:ext cx="9309849" cy="76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8"/>
              </a:lnSpc>
            </a:pPr>
            <a:r>
              <a:rPr lang="en-US" sz="9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ⓒ2020 SAMSUNG. All rights reserved.</a:t>
            </a:r>
          </a:p>
          <a:p>
            <a:pPr algn="l">
              <a:lnSpc>
                <a:spcPts val="1198"/>
              </a:lnSpc>
            </a:pPr>
            <a:r>
              <a:rPr lang="en-US" sz="9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Electronics Corporate Citizenship Office holds the copyright of book.</a:t>
            </a:r>
          </a:p>
          <a:p>
            <a:pPr algn="l">
              <a:lnSpc>
                <a:spcPts val="1198"/>
              </a:lnSpc>
            </a:pPr>
            <a:r>
              <a:rPr lang="en-US" sz="9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This book is a literary property protected by copyright law so reprint and reproduction without permission are prohibited. </a:t>
            </a:r>
          </a:p>
          <a:p>
            <a:pPr algn="l">
              <a:lnSpc>
                <a:spcPts val="1198"/>
              </a:lnSpc>
            </a:pPr>
            <a:r>
              <a:rPr lang="en-US" sz="9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To use this book other than the curriculum of Samsung innovation Campus or to use the entire or part of this book, you must receive written consent from copyright holder.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066551" y="403955"/>
            <a:ext cx="1360961" cy="210188"/>
          </a:xfrm>
          <a:custGeom>
            <a:avLst/>
            <a:gdLst/>
            <a:ahLst/>
            <a:cxnLst/>
            <a:rect r="r" b="b" t="t" l="l"/>
            <a:pathLst>
              <a:path h="210188" w="1360961">
                <a:moveTo>
                  <a:pt x="0" y="0"/>
                </a:moveTo>
                <a:lnTo>
                  <a:pt x="1360961" y="0"/>
                </a:lnTo>
                <a:lnTo>
                  <a:pt x="1360961" y="210188"/>
                </a:lnTo>
                <a:lnTo>
                  <a:pt x="0" y="210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2070" r="0" b="-207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271256" y="2628881"/>
            <a:ext cx="3360306" cy="1102138"/>
            <a:chOff x="0" y="0"/>
            <a:chExt cx="4480408" cy="14695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80433" cy="1469517"/>
            </a:xfrm>
            <a:custGeom>
              <a:avLst/>
              <a:gdLst/>
              <a:ahLst/>
              <a:cxnLst/>
              <a:rect r="r" b="b" t="t" l="l"/>
              <a:pathLst>
                <a:path h="1469517" w="4480433">
                  <a:moveTo>
                    <a:pt x="0" y="0"/>
                  </a:moveTo>
                  <a:lnTo>
                    <a:pt x="4480433" y="0"/>
                  </a:lnTo>
                  <a:lnTo>
                    <a:pt x="4480433" y="1469517"/>
                  </a:lnTo>
                  <a:lnTo>
                    <a:pt x="0" y="146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1" r="0" b="-101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DAHUJ4k-pWM</dc:identifier>
  <dcterms:modified xsi:type="dcterms:W3CDTF">2011-08-01T06:04:30Z</dcterms:modified>
  <cp:revision>1</cp:revision>
  <dc:title>Team Members Motivation &amp; Problem Targeted audience Types of Face Detection Our approach Final Results Future Enhancements</dc:title>
</cp:coreProperties>
</file>